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6"/>
  </p:notesMasterIdLst>
  <p:sldIdLst>
    <p:sldId id="262" r:id="rId3"/>
    <p:sldId id="258" r:id="rId4"/>
    <p:sldId id="257" r:id="rId5"/>
    <p:sldId id="267" r:id="rId6"/>
    <p:sldId id="266" r:id="rId7"/>
    <p:sldId id="259" r:id="rId8"/>
    <p:sldId id="300" r:id="rId9"/>
    <p:sldId id="293" r:id="rId10"/>
    <p:sldId id="299" r:id="rId11"/>
    <p:sldId id="260" r:id="rId12"/>
    <p:sldId id="285" r:id="rId13"/>
    <p:sldId id="291" r:id="rId14"/>
    <p:sldId id="287" r:id="rId15"/>
    <p:sldId id="288" r:id="rId16"/>
    <p:sldId id="290" r:id="rId17"/>
    <p:sldId id="289" r:id="rId18"/>
    <p:sldId id="261" r:id="rId19"/>
    <p:sldId id="264" r:id="rId20"/>
    <p:sldId id="272" r:id="rId21"/>
    <p:sldId id="273" r:id="rId22"/>
    <p:sldId id="292" r:id="rId23"/>
    <p:sldId id="265" r:id="rId24"/>
    <p:sldId id="2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5321" autoAdjust="0"/>
  </p:normalViewPr>
  <p:slideViewPr>
    <p:cSldViewPr snapToGrid="0">
      <p:cViewPr varScale="1">
        <p:scale>
          <a:sx n="94" d="100"/>
          <a:sy n="94" d="100"/>
        </p:scale>
        <p:origin x="65" y="768"/>
      </p:cViewPr>
      <p:guideLst/>
    </p:cSldViewPr>
  </p:slideViewPr>
  <p:outlineViewPr>
    <p:cViewPr>
      <p:scale>
        <a:sx n="33" d="100"/>
        <a:sy n="33" d="100"/>
      </p:scale>
      <p:origin x="0" y="-225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54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6-20T09:14:36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0 160,'933'0,"-785"5,24 10,115 5,162-20,-206-1,108 9,154-2,-305-7,-34 0,234 4,-292 6,96 22,27 2,-150-28,64-5,23 0,904 12,-722-14,-41-5,132 0,-272 9,-133-4,-1-1,15-4,40-4,486-17,-503 26,-9 1,55-8,-75 2,27-3,0 3,29 2,2245 7,-1399-3,-777-6,9 0,379 7,-530-1,1-2,-1 0,2-3,1 1,0 1,17 0,255 4,14 0,-204-6,27-1,-76 7,516-10,-148 6,-252 5,1033-1,-953 14,-25-1,-141-12,148 5,30 1,-237-4,0 2,0 2,3 1,1 1,0-2,12 0,121 1,53-10,-62 1,235 14,52 0,-142-13,81-1,-313-4,1-4,5-3,-69 10,51-5,0 2,3 3,0 1,51-10,-88 7,69-11,0 5,52 2,-134 8,245-4,207-30,-354 25,60 4,-6 4,2-8,37-10,27-14,-155 22,-17 2,7-5,-43 10,1 0,-1 2,1 1,21 3,-5-2,285 1,-311 0,0 0,9 3,28 3,-29-5,0 1,15 5,2 0,-20-5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17D15-CBD5-4428-982A-361C9FCEBCEB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F5F22-6F6A-4F61-8065-703362379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91DD3D-A8C7-435A-9592-7745C7B0B046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8023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3.svg"/><Relationship Id="rId9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14A4-27AD-417E-BFAC-BE88B219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8F9E5-8882-4EE3-8D12-A5BE8B09E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66FC3-8757-4469-B4E6-3816D522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1C1A3-C7EC-4E45-90A2-F1CD1921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7B903-7D94-4CE8-8715-40BC0614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0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0B5D3-FAEB-4BED-B38E-BD97BAE65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AF5BD-F86B-4242-862F-6D7E89CEC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CDBE1-CC4E-4302-BF1B-C9BCA24F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C6C12-0FA6-4DE8-86C6-1934E68A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121D-94A7-46D3-95A1-1ADE1CB6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6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99CC-6209-41AD-8C23-EABC8783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4A8EB-6E00-4ACB-9904-5FB8F6A5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D4CB5-6BEB-45D7-851A-F1D5AD6A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D6A8A-059B-46C3-A530-89AF446E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5F819-3813-41DC-8523-F2775776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5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C9D8-2E91-4925-8096-972B16EC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7536-9D2E-4616-8887-D73708506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F8E14-EA7B-4EEC-8E8F-03E84E647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DED05-76BD-4667-8A93-BCBE9661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55BA-16EC-40A2-9D52-2DA8BEED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08374-7E96-431F-9B6A-6A4BE62C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5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F240-F7C9-418B-9E42-835DD6710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2F95D-53CB-4E4E-8ED9-4E9D2B41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D9408-BC0D-4F78-9113-AE6E79D99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2927E-2D92-4D1F-9F10-1888D5AA7D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7AFF8-E67F-4804-8B01-E80CE5898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CB7BE-DF56-40A4-A799-066F38F8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A82AB-AF87-4772-884A-1E38AC5A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69A8CF-C136-4A8B-8F3D-94DA7FA0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2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F665-ED79-4FC9-AC2C-76A69BE2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F5088-C231-4A95-AC0A-E1C7443D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EA22-E043-49FB-B61B-B79FB310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76125-5028-4E25-8E88-B2B43538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F9BDF-EC61-4748-943F-2969A2C9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D36EB-8684-4588-9F05-D6667093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62DCB-8422-4AB3-BF0A-63343FF0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9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CD07-4483-4D92-96B7-5AFA4E3E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BFDB-41CD-4758-8B6C-9F735226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488DE-716D-4B6A-B614-35B3BFBF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5E0BA-4A85-462B-8E0E-03EE57CD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3A79-7FE5-4987-BE11-47C00639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677A8-9E75-4BE1-9013-A521886C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5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DD93-1C34-42E7-8DE7-5FA3392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72D1A-7AC7-430C-884E-411F292E3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32511-89BA-42F2-8FD9-7630E4DE4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AE731-9C61-4CE6-86F6-74ACDB52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C7B42-DC7B-4BE1-987B-A162B5BA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729B3-205D-43A1-98F7-F80C55A2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5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8FB1-DFB7-41E9-B71F-7C5A949B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94D04-65E6-41AF-BE86-818A97189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BAA3D-3827-4E4B-8B70-DB2CA5C9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7A471-04ED-4AD0-BB8C-9C18EFFA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AFED-1EA6-4998-A82E-E0CEA45D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2213F-4A60-4009-9D24-0C3352F11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848B3-D552-4534-8E45-6C5F89F6F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9A90-CE52-4CFD-B430-3EF906A1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E5BA-621F-4484-B7F6-FB53107B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5B358-1B99-4693-B469-3295A4D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957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195020"/>
            <a:ext cx="5428591" cy="83823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Type your </a:t>
            </a:r>
            <a:r>
              <a:rPr lang="en-US" err="1"/>
              <a:t>ti</a:t>
            </a:r>
            <a:r>
              <a:rPr lang="cs-CZ"/>
              <a:t>t</a:t>
            </a:r>
            <a:r>
              <a:rPr lang="en-US"/>
              <a:t>le here</a:t>
            </a:r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375" y="4764898"/>
            <a:ext cx="5425313" cy="48814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DAD00"/>
                </a:solidFill>
                <a:latin typeface="+mj-lt"/>
              </a:defRPr>
            </a:lvl1pPr>
          </a:lstStyle>
          <a:p>
            <a:pPr lvl="0"/>
            <a:r>
              <a:rPr lang="cs-CZ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226"/>
            <a:ext cx="5425313" cy="838233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Job title, Company</a:t>
            </a:r>
            <a:endParaRPr lang="cs-CZ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187875"/>
            <a:ext cx="5429250" cy="7112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endParaRPr lang="cs-CZ"/>
          </a:p>
        </p:txBody>
      </p:sp>
      <p:pic>
        <p:nvPicPr>
          <p:cNvPr id="6" name="Obrázek 5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093702B-626F-EAF1-1B91-2B226ECA6D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07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hák, design&#10;&#10;Popis byl vytvořen automaticky">
            <a:extLst>
              <a:ext uri="{FF2B5EF4-FFF2-40B4-BE49-F238E27FC236}">
                <a16:creationId xmlns:a16="http://schemas.microsoft.com/office/drawing/2014/main" id="{EBCEBEB8-B201-5BCB-19EE-FD429F589D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778" y="2395649"/>
            <a:ext cx="5262222" cy="194408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Prometo XBold" panose="020B0804030203060203" pitchFamily="34" charset="0"/>
              </a:defRPr>
            </a:lvl1pPr>
          </a:lstStyle>
          <a:p>
            <a:r>
              <a:rPr lang="en-US"/>
              <a:t>Thank You Note</a:t>
            </a:r>
            <a:endParaRPr lang="cs-CZ"/>
          </a:p>
        </p:txBody>
      </p:sp>
      <p:sp>
        <p:nvSpPr>
          <p:cNvPr id="15" name="Zástupný text 9">
            <a:extLst>
              <a:ext uri="{FF2B5EF4-FFF2-40B4-BE49-F238E27FC236}">
                <a16:creationId xmlns:a16="http://schemas.microsoft.com/office/drawing/2014/main" id="{C5ACBB49-9197-4A51-833A-05D4390975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67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en-US" dirty="0"/>
              <a:t>Twitter</a:t>
            </a:r>
            <a:endParaRPr lang="cs-CZ" dirty="0"/>
          </a:p>
        </p:txBody>
      </p:sp>
      <p:sp>
        <p:nvSpPr>
          <p:cNvPr id="17" name="Zástupný text 9">
            <a:extLst>
              <a:ext uri="{FF2B5EF4-FFF2-40B4-BE49-F238E27FC236}">
                <a16:creationId xmlns:a16="http://schemas.microsoft.com/office/drawing/2014/main" id="{5ED8E78F-D232-5BA9-44BC-3D0F2CFCE0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3276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LinkedIn</a:t>
            </a:r>
          </a:p>
        </p:txBody>
      </p:sp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59867425-5C2E-6DA4-BF49-9A1915098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5066" y="5235876"/>
            <a:ext cx="363419" cy="363419"/>
          </a:xfrm>
          <a:prstGeom prst="rect">
            <a:avLst/>
          </a:prstGeom>
        </p:spPr>
      </p:pic>
      <p:sp>
        <p:nvSpPr>
          <p:cNvPr id="9" name="Zástupný text 9">
            <a:extLst>
              <a:ext uri="{FF2B5EF4-FFF2-40B4-BE49-F238E27FC236}">
                <a16:creationId xmlns:a16="http://schemas.microsoft.com/office/drawing/2014/main" id="{D2C4FB82-A708-2912-24CA-39442AAD05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9188" y="5175606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GitHub</a:t>
            </a:r>
          </a:p>
        </p:txBody>
      </p:sp>
      <p:sp>
        <p:nvSpPr>
          <p:cNvPr id="13" name="Zástupný symbol pro datum 1">
            <a:extLst>
              <a:ext uri="{FF2B5EF4-FFF2-40B4-BE49-F238E27FC236}">
                <a16:creationId xmlns:a16="http://schemas.microsoft.com/office/drawing/2014/main" id="{4CCABEB8-5B52-8766-B138-BF0F6FCB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14" name="Zástupný symbol pro zápatí 2">
            <a:extLst>
              <a:ext uri="{FF2B5EF4-FFF2-40B4-BE49-F238E27FC236}">
                <a16:creationId xmlns:a16="http://schemas.microsoft.com/office/drawing/2014/main" id="{1CFE454B-8562-9B8B-F82C-F6924FC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pic>
        <p:nvPicPr>
          <p:cNvPr id="3" name="Obrázek 2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8E4BBC5-0139-B475-AFBA-D9D67F18FC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  <p:pic>
        <p:nvPicPr>
          <p:cNvPr id="6" name="Grafický objekt 17">
            <a:extLst>
              <a:ext uri="{FF2B5EF4-FFF2-40B4-BE49-F238E27FC236}">
                <a16:creationId xmlns:a16="http://schemas.microsoft.com/office/drawing/2014/main" id="{01CD6334-70CE-4FC5-871E-BC6BEC100FE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9153" y="5235877"/>
            <a:ext cx="363420" cy="36341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8FC9E77-2242-F871-BC1B-DF500D10C88B}"/>
              </a:ext>
            </a:extLst>
          </p:cNvPr>
          <p:cNvSpPr/>
          <p:nvPr userDrawn="1"/>
        </p:nvSpPr>
        <p:spPr>
          <a:xfrm>
            <a:off x="726830" y="5230949"/>
            <a:ext cx="412800" cy="406178"/>
          </a:xfrm>
          <a:prstGeom prst="ellipse">
            <a:avLst/>
          </a:prstGeom>
          <a:solidFill>
            <a:srgbClr val="FDA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B8BDBF-DF0F-FDCF-5E9F-22DA2D6395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92" y="5291190"/>
            <a:ext cx="307676" cy="3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10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Obsah obrázku hák, design&#10;&#10;Popis byl vytvořen automaticky">
            <a:extLst>
              <a:ext uri="{FF2B5EF4-FFF2-40B4-BE49-F238E27FC236}">
                <a16:creationId xmlns:a16="http://schemas.microsoft.com/office/drawing/2014/main" id="{B217928E-1BCD-57AB-E15F-107279254F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195020"/>
            <a:ext cx="5428591" cy="838233"/>
          </a:xfrm>
        </p:spPr>
        <p:txBody>
          <a:bodyPr anchor="ctr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Type your </a:t>
            </a:r>
            <a:r>
              <a:rPr lang="en-US" err="1"/>
              <a:t>ti</a:t>
            </a:r>
            <a:r>
              <a:rPr lang="cs-CZ"/>
              <a:t>t</a:t>
            </a:r>
            <a:r>
              <a:rPr lang="en-US"/>
              <a:t>le here</a:t>
            </a:r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D1CE4D-5AA3-4F8D-BB4D-E04B1498F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6" name="Zástupný text 13">
            <a:extLst>
              <a:ext uri="{FF2B5EF4-FFF2-40B4-BE49-F238E27FC236}">
                <a16:creationId xmlns:a16="http://schemas.microsoft.com/office/drawing/2014/main" id="{845418B6-3F48-4BB3-95CD-B33ACDC2F1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375" y="4764898"/>
            <a:ext cx="5425313" cy="48814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FDAD00"/>
                </a:solidFill>
                <a:latin typeface="+mj-lt"/>
              </a:defRPr>
            </a:lvl1pPr>
          </a:lstStyle>
          <a:p>
            <a:pPr lvl="0"/>
            <a:r>
              <a:rPr lang="cs-CZ"/>
              <a:t>Name</a:t>
            </a:r>
          </a:p>
        </p:txBody>
      </p:sp>
      <p:sp>
        <p:nvSpPr>
          <p:cNvPr id="13" name="Zástupný text 11">
            <a:extLst>
              <a:ext uri="{FF2B5EF4-FFF2-40B4-BE49-F238E27FC236}">
                <a16:creationId xmlns:a16="http://schemas.microsoft.com/office/drawing/2014/main" id="{966569C8-862A-4685-AF99-952DCD94A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334226"/>
            <a:ext cx="5425313" cy="838233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277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Job title, Company</a:t>
            </a:r>
            <a:endParaRPr lang="cs-CZ"/>
          </a:p>
        </p:txBody>
      </p:sp>
      <p:sp>
        <p:nvSpPr>
          <p:cNvPr id="11" name="Zástupný text 10">
            <a:extLst>
              <a:ext uri="{FF2B5EF4-FFF2-40B4-BE49-F238E27FC236}">
                <a16:creationId xmlns:a16="http://schemas.microsoft.com/office/drawing/2014/main" id="{AD69D3F0-602C-E074-5180-B4AF8F42B79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3187875"/>
            <a:ext cx="5429250" cy="711200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endParaRPr lang="cs-CZ"/>
          </a:p>
        </p:txBody>
      </p:sp>
      <p:pic>
        <p:nvPicPr>
          <p:cNvPr id="6" name="Obrázek 5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093702B-626F-EAF1-1B91-2B226ECA6D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51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rázek 11" descr="Obsah obrázku mrakodrap, budova, mlha&#10;&#10;Popis byl vytvořen automaticky">
            <a:extLst>
              <a:ext uri="{FF2B5EF4-FFF2-40B4-BE49-F238E27FC236}">
                <a16:creationId xmlns:a16="http://schemas.microsoft.com/office/drawing/2014/main" id="{DF27DB7E-159D-BF57-82CE-D268F4CBB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tx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C3CAC533-5FD2-BB4A-6849-7EA7B64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270FF8D9-8840-98F0-F351-4DA76880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2D3F1DB4-97D2-592E-66A0-ED7D5F9C59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1887538"/>
            <a:ext cx="10515600" cy="3954462"/>
          </a:xfrm>
        </p:spPr>
        <p:txBody>
          <a:bodyPr/>
          <a:lstStyle>
            <a:lvl1pPr>
              <a:buClr>
                <a:srgbClr val="FDAD00"/>
              </a:buClr>
              <a:defRPr>
                <a:latin typeface="+mn-lt"/>
              </a:defRPr>
            </a:lvl1pPr>
          </a:lstStyle>
          <a:p>
            <a:pPr lvl="0"/>
            <a:r>
              <a:rPr lang="cs-CZ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9462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or-diagram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skica, bílé, design&#10;&#10;Popis byl vytvořen automaticky">
            <a:extLst>
              <a:ext uri="{FF2B5EF4-FFF2-40B4-BE49-F238E27FC236}">
                <a16:creationId xmlns:a16="http://schemas.microsoft.com/office/drawing/2014/main" id="{526EC7E6-FF2F-401E-2AD3-3890CEBA81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E9B5E37A-947A-22C0-1431-A92CEFAC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8EFD9B21-E695-CBBF-CA14-F26A4F13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88B239D-B7EB-C7D0-4548-2B5B5FBAF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numCol="1"/>
          <a:lstStyle>
            <a:lvl1pPr algn="ctr">
              <a:defRPr>
                <a:solidFill>
                  <a:srgbClr val="2C2E35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12" name="Zástupný obsah 7">
            <a:extLst>
              <a:ext uri="{FF2B5EF4-FFF2-40B4-BE49-F238E27FC236}">
                <a16:creationId xmlns:a16="http://schemas.microsoft.com/office/drawing/2014/main" id="{55BBEDAF-0E04-144C-A500-9EEE91B03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 marL="0" indent="0">
              <a:buClr>
                <a:srgbClr val="5D93DD"/>
              </a:buClr>
              <a:buNone/>
              <a:defRPr sz="2800">
                <a:solidFill>
                  <a:srgbClr val="2C2E35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Object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7106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BE5B7837-A4FD-33FA-6CE9-DCBAFB41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DDC60AF0-00E4-3F07-6639-E5938D43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739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ástupný symbol pro datum 1">
            <a:extLst>
              <a:ext uri="{FF2B5EF4-FFF2-40B4-BE49-F238E27FC236}">
                <a16:creationId xmlns:a16="http://schemas.microsoft.com/office/drawing/2014/main" id="{B9859F0D-D970-E062-4FE9-E31D7A4B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7C622EA0-FB28-E9D0-80C1-2E36FE081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2" name="Zástupný text 2">
            <a:extLst>
              <a:ext uri="{FF2B5EF4-FFF2-40B4-BE49-F238E27FC236}">
                <a16:creationId xmlns:a16="http://schemas.microsoft.com/office/drawing/2014/main" id="{67335623-491D-E2B1-17CC-5590AD3263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3606" y="3102769"/>
            <a:ext cx="5284787" cy="65246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ln>
                  <a:solidFill>
                    <a:schemeClr val="bg1"/>
                  </a:solidFill>
                </a:ln>
                <a:solidFill>
                  <a:srgbClr val="2C2E35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673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-slide">
    <p:bg>
      <p:bgPr>
        <a:solidFill>
          <a:srgbClr val="FD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54CD9274-DFA2-6DDC-2F73-9C28E35B4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2357268-C79A-4225-9F2D-63360B661E37}" type="datetimeFigureOut">
              <a:rPr lang="cs-CZ" smtClean="0"/>
              <a:pPr/>
              <a:t>13.11.2025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9698A581-C37C-46FC-67D3-EAA89DC6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1110E8D-F590-6F54-2DD5-1E7922B769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2968" y="3077368"/>
            <a:ext cx="5326063" cy="703263"/>
          </a:xfrm>
        </p:spPr>
        <p:txBody>
          <a:bodyPr>
            <a:normAutofit/>
          </a:bodyPr>
          <a:lstStyle>
            <a:lvl1pPr marL="0" indent="0" algn="ctr">
              <a:buNone/>
              <a:defRPr sz="4400" b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6196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2D1D61FE-CF0F-B56A-5F96-C63EBEA274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6F259CA2-8A1B-8132-65E0-3A6F7ED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BACB64-B10A-F1E8-CBF9-BDD37FA59F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3606" y="3095493"/>
            <a:ext cx="5284787" cy="664898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cs-CZ" err="1"/>
              <a:t>Lorem</a:t>
            </a:r>
            <a:r>
              <a:rPr lang="cs-CZ"/>
              <a:t> </a:t>
            </a:r>
            <a:r>
              <a:rPr lang="cs-CZ" err="1"/>
              <a:t>Ipsum</a:t>
            </a:r>
            <a:r>
              <a:rPr lang="cs-CZ"/>
              <a:t> </a:t>
            </a:r>
            <a:r>
              <a:rPr lang="cs-CZ" err="1"/>
              <a:t>Dolor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7903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-with-content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FF20B1-1A7B-4BEA-9B1E-75EFBAF4C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4114800" cy="1069975"/>
          </a:xfrm>
        </p:spPr>
        <p:txBody>
          <a:bodyPr anchor="ctr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CF1BC82-DCC4-45E1-8D44-1FB82CF430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</a:t>
            </a:r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0721B265-8CAF-48F3-B8CB-141AC31CF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2261616"/>
            <a:ext cx="4116388" cy="3599434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Text</a:t>
            </a:r>
          </a:p>
        </p:txBody>
      </p:sp>
      <p:sp>
        <p:nvSpPr>
          <p:cNvPr id="4" name="Zástupný symbol pro datum 1">
            <a:extLst>
              <a:ext uri="{FF2B5EF4-FFF2-40B4-BE49-F238E27FC236}">
                <a16:creationId xmlns:a16="http://schemas.microsoft.com/office/drawing/2014/main" id="{5594A8E2-D392-7B23-D961-AE9B9D31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6FEC9AA1-3B26-61B1-DA0E-70A7C3A1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5985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 descr="Obsah obrázku snímek obrazovky, černá&#10;&#10;Popis byl vytvořen automaticky">
            <a:extLst>
              <a:ext uri="{FF2B5EF4-FFF2-40B4-BE49-F238E27FC236}">
                <a16:creationId xmlns:a16="http://schemas.microsoft.com/office/drawing/2014/main" id="{86E7B99C-0191-CCEF-19AA-9CA0DA4794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64A33A-BCE6-454E-A148-C2BC6C5F5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numCol="1"/>
          <a:lstStyle>
            <a:lvl1pPr algn="ctr">
              <a:defRPr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33A0526-E99A-4184-9EBB-B3AD1AC6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906A7-2EE8-4435-808F-0C317E75D4DD}" type="datetime1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A255894-027D-4BEA-BD5C-9DFF9D3A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Zástupný obsah 7">
            <a:extLst>
              <a:ext uri="{FF2B5EF4-FFF2-40B4-BE49-F238E27FC236}">
                <a16:creationId xmlns:a16="http://schemas.microsoft.com/office/drawing/2014/main" id="{5D08F643-AF14-49BF-AB29-B51882FFC92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cs-CZ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60828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de-or-diagram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černá, design&#10;&#10;Popis byl vytvořen automaticky">
            <a:extLst>
              <a:ext uri="{FF2B5EF4-FFF2-40B4-BE49-F238E27FC236}">
                <a16:creationId xmlns:a16="http://schemas.microsoft.com/office/drawing/2014/main" id="{5B1D49E1-823B-2297-7671-0F2F15B20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Zástupný symbol pro datum 1">
            <a:extLst>
              <a:ext uri="{FF2B5EF4-FFF2-40B4-BE49-F238E27FC236}">
                <a16:creationId xmlns:a16="http://schemas.microsoft.com/office/drawing/2014/main" id="{E9B5E37A-947A-22C0-1431-A92CEFAC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7" name="Zástupný symbol pro zápatí 2">
            <a:extLst>
              <a:ext uri="{FF2B5EF4-FFF2-40B4-BE49-F238E27FC236}">
                <a16:creationId xmlns:a16="http://schemas.microsoft.com/office/drawing/2014/main" id="{8EFD9B21-E695-CBBF-CA14-F26A4F13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A88B239D-B7EB-C7D0-4548-2B5B5FBAF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numCol="1"/>
          <a:lstStyle>
            <a:lvl1pPr algn="ctr">
              <a:defRPr>
                <a:solidFill>
                  <a:schemeClr val="bg1"/>
                </a:solidFill>
                <a:latin typeface="Prometo Medium" panose="020B070403020306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12" name="Zástupný obsah 7">
            <a:extLst>
              <a:ext uri="{FF2B5EF4-FFF2-40B4-BE49-F238E27FC236}">
                <a16:creationId xmlns:a16="http://schemas.microsoft.com/office/drawing/2014/main" id="{55BBEDAF-0E04-144C-A500-9EEE91B03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912690"/>
            <a:ext cx="10515600" cy="3921182"/>
          </a:xfrm>
        </p:spPr>
        <p:txBody>
          <a:bodyPr>
            <a:normAutofit/>
          </a:bodyPr>
          <a:lstStyle>
            <a:lvl1pPr marL="0" indent="0">
              <a:buClr>
                <a:srgbClr val="5D93DD"/>
              </a:buClr>
              <a:buNone/>
              <a:defRPr sz="2800">
                <a:solidFill>
                  <a:schemeClr val="bg1"/>
                </a:solidFill>
                <a:latin typeface="Prometo Light" panose="020B0404030203060203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Object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9528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icture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B9F2179B-71C7-013D-A59B-52C15F0FC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23D2D5D8-AEB7-995D-E651-B7833163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45843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-with-content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FF20B1-1A7B-4BEA-9B1E-75EFBAF4C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4114800" cy="1069975"/>
          </a:xfrm>
        </p:spPr>
        <p:txBody>
          <a:bodyPr anchor="ctr"/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  <a:endParaRPr lang="cs-CZ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CF1BC82-DCC4-45E1-8D44-1FB82CF430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Image</a:t>
            </a:r>
            <a:endParaRPr lang="cs-CZ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0721B265-8CAF-48F3-B8CB-141AC31CFA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2" y="2261616"/>
            <a:ext cx="4116388" cy="3599434"/>
          </a:xfrm>
        </p:spPr>
        <p:txBody>
          <a:bodyPr>
            <a:normAutofit/>
          </a:bodyPr>
          <a:lstStyle>
            <a:lvl1pPr>
              <a:buClr>
                <a:srgbClr val="FDAD00"/>
              </a:buClr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Text</a:t>
            </a:r>
          </a:p>
        </p:txBody>
      </p:sp>
      <p:sp>
        <p:nvSpPr>
          <p:cNvPr id="4" name="Zástupný symbol pro datum 1">
            <a:extLst>
              <a:ext uri="{FF2B5EF4-FFF2-40B4-BE49-F238E27FC236}">
                <a16:creationId xmlns:a16="http://schemas.microsoft.com/office/drawing/2014/main" id="{5D14F6A2-AAF7-1834-59BF-E16839F6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8" name="Zástupný symbol pro zápatí 2">
            <a:extLst>
              <a:ext uri="{FF2B5EF4-FFF2-40B4-BE49-F238E27FC236}">
                <a16:creationId xmlns:a16="http://schemas.microsoft.com/office/drawing/2014/main" id="{31D93ED4-4A8C-2E3A-3A79-A0A843A7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1298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Picture-slide">
    <p:bg>
      <p:bgPr>
        <a:solidFill>
          <a:srgbClr val="FDA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1">
            <a:extLst>
              <a:ext uri="{FF2B5EF4-FFF2-40B4-BE49-F238E27FC236}">
                <a16:creationId xmlns:a16="http://schemas.microsoft.com/office/drawing/2014/main" id="{C2598A6F-9C93-3D83-9034-BD98E9A3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2357268-C79A-4225-9F2D-63360B661E37}" type="datetimeFigureOut">
              <a:rPr lang="cs-CZ" smtClean="0"/>
              <a:pPr/>
              <a:t>13.11.2025</a:t>
            </a:fld>
            <a:endParaRPr lang="cs-CZ"/>
          </a:p>
        </p:txBody>
      </p:sp>
      <p:sp>
        <p:nvSpPr>
          <p:cNvPr id="6" name="Zástupný symbol pro zápatí 2">
            <a:extLst>
              <a:ext uri="{FF2B5EF4-FFF2-40B4-BE49-F238E27FC236}">
                <a16:creationId xmlns:a16="http://schemas.microsoft.com/office/drawing/2014/main" id="{1C0C756A-3DA2-524F-CFE5-2B59D6A6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2148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Obsah obrázku hák, design&#10;&#10;Popis byl vytvořen automaticky">
            <a:extLst>
              <a:ext uri="{FF2B5EF4-FFF2-40B4-BE49-F238E27FC236}">
                <a16:creationId xmlns:a16="http://schemas.microsoft.com/office/drawing/2014/main" id="{EBCEBEB8-B201-5BCB-19EE-FD429F589D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59116E4-6F6A-4236-B205-7EBF81DEDD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778" y="2395649"/>
            <a:ext cx="5262222" cy="194408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Prometo XBold" panose="020B0804030203060203" pitchFamily="34" charset="0"/>
              </a:defRPr>
            </a:lvl1pPr>
          </a:lstStyle>
          <a:p>
            <a:r>
              <a:rPr lang="en-US"/>
              <a:t>Thank You Note</a:t>
            </a:r>
            <a:endParaRPr lang="cs-CZ"/>
          </a:p>
        </p:txBody>
      </p:sp>
      <p:sp>
        <p:nvSpPr>
          <p:cNvPr id="15" name="Zástupný text 9">
            <a:extLst>
              <a:ext uri="{FF2B5EF4-FFF2-40B4-BE49-F238E27FC236}">
                <a16:creationId xmlns:a16="http://schemas.microsoft.com/office/drawing/2014/main" id="{C5ACBB49-9197-4A51-833A-05D4390975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8067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en-US"/>
              <a:t>Twitter</a:t>
            </a:r>
            <a:endParaRPr lang="cs-CZ"/>
          </a:p>
        </p:txBody>
      </p:sp>
      <p:sp>
        <p:nvSpPr>
          <p:cNvPr id="17" name="Zástupný text 9">
            <a:extLst>
              <a:ext uri="{FF2B5EF4-FFF2-40B4-BE49-F238E27FC236}">
                <a16:creationId xmlns:a16="http://schemas.microsoft.com/office/drawing/2014/main" id="{5ED8E78F-D232-5BA9-44BC-3D0F2CFCE0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3276" y="5176287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LinkedIn</a:t>
            </a:r>
          </a:p>
        </p:txBody>
      </p:sp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790CE6FB-A745-D4BA-D849-533C621726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626" y="5236560"/>
            <a:ext cx="362056" cy="362054"/>
          </a:xfrm>
          <a:prstGeom prst="rect">
            <a:avLst/>
          </a:prstGeom>
        </p:spPr>
      </p:pic>
      <p:pic>
        <p:nvPicPr>
          <p:cNvPr id="18" name="Grafický objekt 17">
            <a:extLst>
              <a:ext uri="{FF2B5EF4-FFF2-40B4-BE49-F238E27FC236}">
                <a16:creationId xmlns:a16="http://schemas.microsoft.com/office/drawing/2014/main" id="{05C0BE42-599B-AB7A-E0A5-0CD07FF6F9C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9153" y="5235877"/>
            <a:ext cx="363420" cy="363418"/>
          </a:xfrm>
          <a:prstGeom prst="rect">
            <a:avLst/>
          </a:prstGeom>
        </p:spPr>
      </p:pic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59867425-5C2E-6DA4-BF49-9A191509894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5066" y="5235876"/>
            <a:ext cx="363419" cy="363419"/>
          </a:xfrm>
          <a:prstGeom prst="rect">
            <a:avLst/>
          </a:prstGeom>
        </p:spPr>
      </p:pic>
      <p:sp>
        <p:nvSpPr>
          <p:cNvPr id="9" name="Zástupný text 9">
            <a:extLst>
              <a:ext uri="{FF2B5EF4-FFF2-40B4-BE49-F238E27FC236}">
                <a16:creationId xmlns:a16="http://schemas.microsoft.com/office/drawing/2014/main" id="{D2C4FB82-A708-2912-24CA-39442AAD05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9188" y="5175606"/>
            <a:ext cx="1844212" cy="49371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Raleway Light" pitchFamily="2" charset="0"/>
              </a:defRPr>
            </a:lvl1pPr>
          </a:lstStyle>
          <a:p>
            <a:pPr lvl="0"/>
            <a:r>
              <a:rPr lang="cs-CZ"/>
              <a:t>GitHub</a:t>
            </a:r>
          </a:p>
        </p:txBody>
      </p:sp>
      <p:sp>
        <p:nvSpPr>
          <p:cNvPr id="13" name="Zástupný symbol pro datum 1">
            <a:extLst>
              <a:ext uri="{FF2B5EF4-FFF2-40B4-BE49-F238E27FC236}">
                <a16:creationId xmlns:a16="http://schemas.microsoft.com/office/drawing/2014/main" id="{4CCABEB8-5B52-8766-B138-BF0F6FCBB6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8050" y="6197600"/>
            <a:ext cx="2743200" cy="365125"/>
          </a:xfrm>
        </p:spPr>
        <p:txBody>
          <a:bodyPr/>
          <a:lstStyle/>
          <a:p>
            <a:fld id="{92357268-C79A-4225-9F2D-63360B661E37}" type="datetimeFigureOut">
              <a:rPr lang="cs-CZ" smtClean="0"/>
              <a:t>13.11.2025</a:t>
            </a:fld>
            <a:endParaRPr lang="cs-CZ"/>
          </a:p>
        </p:txBody>
      </p:sp>
      <p:sp>
        <p:nvSpPr>
          <p:cNvPr id="14" name="Zástupný symbol pro zápatí 2">
            <a:extLst>
              <a:ext uri="{FF2B5EF4-FFF2-40B4-BE49-F238E27FC236}">
                <a16:creationId xmlns:a16="http://schemas.microsoft.com/office/drawing/2014/main" id="{1CFE454B-8562-9B8B-F82C-F6924FC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8450" y="6197600"/>
            <a:ext cx="4114800" cy="365125"/>
          </a:xfrm>
        </p:spPr>
        <p:txBody>
          <a:bodyPr/>
          <a:lstStyle/>
          <a:p>
            <a:endParaRPr lang="cs-CZ"/>
          </a:p>
        </p:txBody>
      </p:sp>
      <p:pic>
        <p:nvPicPr>
          <p:cNvPr id="3" name="Obrázek 2" descr="Obsah obrázku Písmo, text, Grafika, logo&#10;&#10;Obsah generovaný pomocí AI může být nesprávný.">
            <a:extLst>
              <a:ext uri="{FF2B5EF4-FFF2-40B4-BE49-F238E27FC236}">
                <a16:creationId xmlns:a16="http://schemas.microsoft.com/office/drawing/2014/main" id="{08E4BBC5-0139-B475-AFBA-D9D67F18FC4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88" y="961323"/>
            <a:ext cx="3183742" cy="59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56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7D532-FC0D-41EC-B628-8C01AC91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B2E9A-B7FB-40DE-A5FC-06F9E4E5C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E8345-659A-4C74-A006-F326E35CE5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8277-8844-4E5E-92A8-FCE82D200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40487-5D0B-4142-ABD0-84064E2E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E3B8-019E-44AD-8AC4-C2A9675A4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EE24A-3D7B-4903-B98E-DA4F30F56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0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10E2DF56-F67D-41BD-94A3-E33203F9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1FEF04-0566-4B53-B06C-C50200C78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497E9F2-0FFD-493C-93E1-79BC3BB410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508AB-210D-4B6F-AE53-C36D4FCB8D3D}" type="datetime1">
              <a:rPr lang="cs-CZ" smtClean="0"/>
              <a:t>13.11.2025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6ADE25-0354-4CE9-860B-FA825775C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500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DAD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DAD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Nadpis 14">
            <a:extLst>
              <a:ext uri="{FF2B5EF4-FFF2-40B4-BE49-F238E27FC236}">
                <a16:creationId xmlns:a16="http://schemas.microsoft.com/office/drawing/2014/main" id="{E390D7A5-0B4D-9FA2-299F-55B8ED8D6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>
                <a:latin typeface="Aptos Black "/>
              </a:rPr>
              <a:t>Behind the LINQ</a:t>
            </a:r>
          </a:p>
        </p:txBody>
      </p:sp>
      <p:sp>
        <p:nvSpPr>
          <p:cNvPr id="16" name="Zástupný text 15">
            <a:extLst>
              <a:ext uri="{FF2B5EF4-FFF2-40B4-BE49-F238E27FC236}">
                <a16:creationId xmlns:a16="http://schemas.microsoft.com/office/drawing/2014/main" id="{EAC5759F-4655-07F9-56AA-7867A39DB3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Aptos Light (Body)"/>
              </a:rPr>
              <a:t>Senior Architect, Real Time Technologies</a:t>
            </a:r>
            <a:endParaRPr lang="cs-CZ" dirty="0">
              <a:latin typeface="Aptos Light (Body)"/>
            </a:endParaRPr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1C98B004-3A98-773F-6A8B-7B23E8E6E8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0" y="3201714"/>
            <a:ext cx="5959207" cy="1015060"/>
          </a:xfrm>
        </p:spPr>
        <p:txBody>
          <a:bodyPr>
            <a:normAutofit/>
          </a:bodyPr>
          <a:lstStyle/>
          <a:p>
            <a:r>
              <a:rPr lang="en-US" dirty="0">
                <a:latin typeface="Aptos Light (Body)"/>
              </a:rPr>
              <a:t>Diagnosing What EF Core Is Really Doing to Your Database</a:t>
            </a:r>
          </a:p>
        </p:txBody>
      </p:sp>
      <p:sp>
        <p:nvSpPr>
          <p:cNvPr id="19" name="Zástupný text 18">
            <a:extLst>
              <a:ext uri="{FF2B5EF4-FFF2-40B4-BE49-F238E27FC236}">
                <a16:creationId xmlns:a16="http://schemas.microsoft.com/office/drawing/2014/main" id="{531531D6-3522-A791-B991-335662165F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Aptos Black "/>
              </a:rPr>
              <a:t>Chris Woody Woodruff</a:t>
            </a:r>
            <a:endParaRPr lang="cs-CZ" dirty="0">
              <a:latin typeface="Aptos Black "/>
            </a:endParaRPr>
          </a:p>
        </p:txBody>
      </p:sp>
    </p:spTree>
    <p:extLst>
      <p:ext uri="{BB962C8B-B14F-4D97-AF65-F5344CB8AC3E}">
        <p14:creationId xmlns:p14="http://schemas.microsoft.com/office/powerpoint/2010/main" val="274371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E0DC-F802-4C73-9130-2834FC652D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0080" y="640080"/>
            <a:ext cx="2752354" cy="270927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rgbClr val="262626"/>
                </a:solidFill>
                <a:latin typeface="Aptos Black "/>
              </a:rPr>
              <a:t>Story</a:t>
            </a:r>
          </a:p>
        </p:txBody>
      </p:sp>
    </p:spTree>
    <p:extLst>
      <p:ext uri="{BB962C8B-B14F-4D97-AF65-F5344CB8AC3E}">
        <p14:creationId xmlns:p14="http://schemas.microsoft.com/office/powerpoint/2010/main" val="378918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C65473-F2AD-4018-BFAE-723AFDE2D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4" b="15464"/>
          <a:stretch/>
        </p:blipFill>
        <p:spPr>
          <a:xfrm>
            <a:off x="34890" y="0"/>
            <a:ext cx="9928869" cy="6858000"/>
          </a:xfrm>
          <a:prstGeom prst="rect">
            <a:avLst/>
          </a:prstGeom>
        </p:spPr>
      </p:pic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B9747794-CF4D-4CA7-BA69-EC86A5F18F39}"/>
              </a:ext>
            </a:extLst>
          </p:cNvPr>
          <p:cNvSpPr/>
          <p:nvPr/>
        </p:nvSpPr>
        <p:spPr>
          <a:xfrm>
            <a:off x="6993145" y="153560"/>
            <a:ext cx="3694733" cy="1902228"/>
          </a:xfrm>
          <a:prstGeom prst="wedgeRectCallout">
            <a:avLst>
              <a:gd name="adj1" fmla="val -42144"/>
              <a:gd name="adj2" fmla="val 75819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Aptos Black "/>
              </a:rPr>
              <a:t>Hello</a:t>
            </a:r>
          </a:p>
        </p:txBody>
      </p: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769C9169-4028-47C5-BF36-9581DDEAD66E}"/>
              </a:ext>
            </a:extLst>
          </p:cNvPr>
          <p:cNvSpPr/>
          <p:nvPr/>
        </p:nvSpPr>
        <p:spPr>
          <a:xfrm>
            <a:off x="7848280" y="4018593"/>
            <a:ext cx="4043516" cy="1902228"/>
          </a:xfrm>
          <a:prstGeom prst="wedgeRectCallout">
            <a:avLst>
              <a:gd name="adj1" fmla="val -73080"/>
              <a:gd name="adj2" fmla="val -4413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+mj-lt"/>
              </a:rPr>
              <a:t>Chris Woody Woodruff</a:t>
            </a:r>
          </a:p>
        </p:txBody>
      </p:sp>
    </p:spTree>
    <p:extLst>
      <p:ext uri="{BB962C8B-B14F-4D97-AF65-F5344CB8AC3E}">
        <p14:creationId xmlns:p14="http://schemas.microsoft.com/office/powerpoint/2010/main" val="338177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6B666-8D5B-4031-8BF5-99E2C4A6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>
                    <a:lumMod val="95000"/>
                    <a:lumOff val="5000"/>
                  </a:schemeClr>
                </a:solidFill>
                <a:latin typeface="Aptos Black "/>
              </a:rPr>
              <a:t>I am not a dba!</a:t>
            </a:r>
          </a:p>
        </p:txBody>
      </p:sp>
    </p:spTree>
    <p:extLst>
      <p:ext uri="{BB962C8B-B14F-4D97-AF65-F5344CB8AC3E}">
        <p14:creationId xmlns:p14="http://schemas.microsoft.com/office/powerpoint/2010/main" val="1212665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itdegreesandprograms.com/sites/all/files/public/database-administrator.jpg">
            <a:extLst>
              <a:ext uri="{FF2B5EF4-FFF2-40B4-BE49-F238E27FC236}">
                <a16:creationId xmlns:a16="http://schemas.microsoft.com/office/drawing/2014/main" id="{561C9CCB-09D8-4C1E-9D82-9D23A099F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5" name="Down Arrow 7">
            <a:extLst>
              <a:ext uri="{FF2B5EF4-FFF2-40B4-BE49-F238E27FC236}">
                <a16:creationId xmlns:a16="http://schemas.microsoft.com/office/drawing/2014/main" id="{B547373F-AF2E-4907-B442-9F902B387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-4763"/>
            <a:ext cx="3333749" cy="3338514"/>
          </a:xfrm>
          <a:prstGeom prst="downArrow">
            <a:avLst>
              <a:gd name="adj1" fmla="val 100000"/>
              <a:gd name="adj2" fmla="val 26890"/>
            </a:avLst>
          </a:prstGeom>
          <a:solidFill>
            <a:schemeClr val="tx1">
              <a:lumMod val="85000"/>
              <a:lumOff val="1500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1BC1A1-7DC6-44DB-9D78-EC788044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0501"/>
            <a:ext cx="2886075" cy="248602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ptos Black "/>
              </a:rPr>
              <a:t>We are not going to attack DBAs here! </a:t>
            </a:r>
          </a:p>
        </p:txBody>
      </p:sp>
    </p:spTree>
    <p:extLst>
      <p:ext uri="{BB962C8B-B14F-4D97-AF65-F5344CB8AC3E}">
        <p14:creationId xmlns:p14="http://schemas.microsoft.com/office/powerpoint/2010/main" val="4109734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46AEBC-2F26-41B8-964A-B3BC30A8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Aptos Black "/>
              </a:rPr>
              <a:t>What we want to solve?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482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A04007-9192-870A-2E91-20A8BC4F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507537C-2001-2703-BAD5-7343B65B3D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Common Database Design Issues</a:t>
            </a:r>
          </a:p>
          <a:p>
            <a:r>
              <a:rPr lang="en-US" dirty="0" err="1"/>
              <a:t>BadBookStore</a:t>
            </a:r>
            <a:r>
              <a:rPr lang="en-US" dirty="0"/>
              <a:t> represents a book store with a badly designed database schema.</a:t>
            </a:r>
          </a:p>
          <a:p>
            <a:r>
              <a:rPr lang="en-US" dirty="0"/>
              <a:t>8 queries that show what other developers (not smart Update Conference attendees</a:t>
            </a:r>
            <a:r>
              <a:rPr lang="en-US"/>
              <a:t>) would 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80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1873C-D5B0-4EEC-AC60-E24D5174A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Aptos Black "/>
              </a:rPr>
              <a:t>Goals for this talk!</a:t>
            </a: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71D0-B62B-4CD2-B4D3-2EB6CF792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7482003" cy="5585619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Aptos Light (Body)"/>
              </a:rPr>
              <a:t>Better use of the tools for SQL Server</a:t>
            </a:r>
          </a:p>
          <a:p>
            <a:r>
              <a:rPr lang="en-US" sz="3600" dirty="0">
                <a:latin typeface="Aptos Light (Body)"/>
              </a:rPr>
              <a:t>Better use of Entity Framework Core for performance and happier users</a:t>
            </a:r>
          </a:p>
          <a:p>
            <a:r>
              <a:rPr lang="en-US" sz="3600" dirty="0">
                <a:latin typeface="Aptos Light (Body)"/>
              </a:rPr>
              <a:t>Better relationship with your DBA’s!</a:t>
            </a:r>
          </a:p>
        </p:txBody>
      </p:sp>
    </p:spTree>
    <p:extLst>
      <p:ext uri="{BB962C8B-B14F-4D97-AF65-F5344CB8AC3E}">
        <p14:creationId xmlns:p14="http://schemas.microsoft.com/office/powerpoint/2010/main" val="14313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0FE52-9054-7295-BBA3-12F30A80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5">
            <a:extLst>
              <a:ext uri="{FF2B5EF4-FFF2-40B4-BE49-F238E27FC236}">
                <a16:creationId xmlns:a16="http://schemas.microsoft.com/office/drawing/2014/main" id="{811B972F-3D6F-CB1A-509D-6BEC09929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prstClr val="white"/>
              </a:buClr>
              <a:buSzPct val="100000"/>
              <a:buFont typeface="Arial"/>
              <a:buNone/>
              <a:tabLst/>
              <a:defRPr/>
            </a:pPr>
            <a:endParaRPr kumimoji="0" lang="en-US" sz="1600" b="0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ket_Dec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21A356-7043-9425-B9D4-46D1BAD06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Aptos Black "/>
              </a:rPr>
              <a:t>Tip #1 – Have better databases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1B51D2-4826-E4C5-7467-4F24A279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57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18A99-5CA8-433E-ADE7-279E5BF705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1C95A-FD2C-4B03-8EB3-A8C1017E4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Aptos Black "/>
              </a:rPr>
              <a:t>Tip #2 – understand query Plans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01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91D138-9D96-437E-9921-7AA17B61FA98}"/>
              </a:ext>
            </a:extLst>
          </p:cNvPr>
          <p:cNvSpPr/>
          <p:nvPr/>
        </p:nvSpPr>
        <p:spPr>
          <a:xfrm>
            <a:off x="400787" y="142540"/>
            <a:ext cx="112439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SELECT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c.CustomerId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t.Name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AS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TrackName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a.Title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AS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AlbumName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ar.Name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AS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ArtistName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i.InvoiceDate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 Customer AS c</a:t>
            </a: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Invoice AS i ON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c.CustomerId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i.CustomerId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InvoiceLine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AS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il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ON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i.InvoiceId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il.InvoiceId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Track AS t ON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il.TrackId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t.TrackId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Album AS a ON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t.AlbumId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a.AlbumId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Artist AS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ON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a.ArtistId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ar.ArtistId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WHERE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c.CustomerId</a:t>
            </a:r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= 2</a:t>
            </a:r>
          </a:p>
          <a:p>
            <a:r>
              <a:rPr lang="en-US" sz="20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ORDER BY </a:t>
            </a:r>
            <a:r>
              <a:rPr lang="en-US" sz="20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AlbumName</a:t>
            </a:r>
            <a:endParaRPr lang="en-US" sz="20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52891-5548-4C5A-9974-960130898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4888"/>
            <a:ext cx="12192000" cy="25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FB0A1-901F-45F3-914B-4808B0A60D7F}"/>
              </a:ext>
            </a:extLst>
          </p:cNvPr>
          <p:cNvSpPr/>
          <p:nvPr/>
        </p:nvSpPr>
        <p:spPr>
          <a:xfrm>
            <a:off x="243840" y="63030"/>
            <a:ext cx="1170432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SELECT DISTINCT pp.[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nameFirst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AS 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NameFirst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pp.[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nameLast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AS 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NameLast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tf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franchName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AS [Franchise]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FROM 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SeriesPost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AS 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sp</a:t>
            </a:r>
            <a:endParaRPr lang="en-US" sz="16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INNER JOIN [Teams] AS t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ON (sp.[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teamIDwinner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= t.[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teamID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 AND (sp.[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lgIDwinner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= t.[lgID]) AND (sp.[yearID] = t.[yearID])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INNER JOIN 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TeamsFranchises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AS 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tf</a:t>
            </a:r>
            <a:endParaRPr lang="en-US" sz="16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ON t.[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franchID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= 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tf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franchID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INNER JOIN [Pitching] AS p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ON (t.[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teamID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= p.[</a:t>
            </a:r>
            <a:r>
              <a:rPr lang="en-US" sz="160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teamID</a:t>
            </a:r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 AND (t.[lgID] = p.[lgID]) AND (t.[yearID] = p.[yearID])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INNER JOIN [People] AS pp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ON p.[playerID] = pp.[playerID]</a:t>
            </a:r>
          </a:p>
          <a:p>
            <a:r>
              <a:rPr lang="en-US" sz="16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WHERE (sp.[round] = 'WS') AND (sp.[yearID] = 2018)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79176F-FFAF-4054-887C-B5B5AFAF7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2338"/>
            <a:ext cx="12192000" cy="34656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14:cNvPr>
              <p14:cNvContentPartPr/>
              <p14:nvPr/>
            </p14:nvContentPartPr>
            <p14:xfrm>
              <a:off x="41889" y="3839132"/>
              <a:ext cx="8451720" cy="1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199339-F740-4D4E-9805-7DA7754436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2111" y="3731132"/>
                <a:ext cx="8559360" cy="3250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04AD498-AED8-42D7-B759-7E61F7AF6A04}"/>
              </a:ext>
            </a:extLst>
          </p:cNvPr>
          <p:cNvSpPr txBox="1"/>
          <p:nvPr/>
        </p:nvSpPr>
        <p:spPr>
          <a:xfrm>
            <a:off x="4087906" y="4801822"/>
            <a:ext cx="1447392" cy="1271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8F13A6-07E0-4B99-8B40-8AE6E8359343}"/>
              </a:ext>
            </a:extLst>
          </p:cNvPr>
          <p:cNvSpPr/>
          <p:nvPr/>
        </p:nvSpPr>
        <p:spPr>
          <a:xfrm>
            <a:off x="4048787" y="4899619"/>
            <a:ext cx="1349596" cy="117356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72B2B-88FC-444C-B5A3-4DFBCE941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289" y="1453492"/>
            <a:ext cx="3295363" cy="2786577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D17BDF1-ECA2-4066-84B6-4B3EB6D4F6A8}"/>
              </a:ext>
            </a:extLst>
          </p:cNvPr>
          <p:cNvSpPr/>
          <p:nvPr/>
        </p:nvSpPr>
        <p:spPr>
          <a:xfrm rot="20049201">
            <a:off x="5242138" y="4458835"/>
            <a:ext cx="1196301" cy="39338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6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AAAB-9CB2-47CD-9B81-D581C41B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7" y="1783959"/>
            <a:ext cx="4984343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>
                <a:latin typeface="Aptos Black "/>
              </a:rPr>
              <a:t>Tip #3 – Query Tags and Extended Events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9B7B2723-FE92-464B-815A-2DB752A3B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 bwMode="auto"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47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BA3-C1A1-4BEF-8ED2-DBBBF4A7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 Black "/>
              </a:rPr>
              <a:t>Query Tags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AFECE5-053D-4B03-B3C4-445928675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67" y="2348186"/>
            <a:ext cx="11247594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albums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context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Album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Include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(a =&gt;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Artist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TagWith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"Description: Query for Albums"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TagWith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"Query located: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Chinook.Controllers.AlbumsController.Index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method"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TagWith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@"Parameters: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6B1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  None"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45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BA3-C1A1-4BEF-8ED2-DBBBF4A7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 Black "/>
              </a:rPr>
              <a:t>Query Tags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CB9EB-F6DD-4B04-88A3-A248922FB50E}"/>
              </a:ext>
            </a:extLst>
          </p:cNvPr>
          <p:cNvSpPr/>
          <p:nvPr/>
        </p:nvSpPr>
        <p:spPr>
          <a:xfrm>
            <a:off x="838200" y="1760532"/>
            <a:ext cx="1105837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 Description: Query for Albums</a:t>
            </a:r>
          </a:p>
          <a:p>
            <a:endParaRPr lang="en-US" sz="2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 Query located: 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Chinook.Controllers.AlbumsController.Index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method</a:t>
            </a:r>
          </a:p>
          <a:p>
            <a:endParaRPr lang="en-US" sz="2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 Parameters:</a:t>
            </a: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                     None</a:t>
            </a:r>
          </a:p>
          <a:p>
            <a:endParaRPr lang="en-US" sz="240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SELECT [a].[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AlbumId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[a].[ArtistId],</a:t>
            </a: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[a].[Title], [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a.Artist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].[ArtistId], [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a.Artist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].[Name]</a:t>
            </a: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FROM [Album] AS [a]</a:t>
            </a:r>
          </a:p>
          <a:p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 INNER JOIN [Artist] AS [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a.Artist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ON [a].[ArtistId] = [</a:t>
            </a:r>
            <a:r>
              <a:rPr lang="en-US" sz="24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a.Artist</a:t>
            </a:r>
            <a:r>
              <a:rPr lang="en-US" sz="24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].[ArtistId]</a:t>
            </a:r>
          </a:p>
        </p:txBody>
      </p:sp>
    </p:spTree>
    <p:extLst>
      <p:ext uri="{BB962C8B-B14F-4D97-AF65-F5344CB8AC3E}">
        <p14:creationId xmlns:p14="http://schemas.microsoft.com/office/powerpoint/2010/main" val="1509889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BA3-C1A1-4BEF-8ED2-DBBBF4A7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ptos Black "/>
              </a:rPr>
              <a:t>Extended Events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1FA20-D837-4803-ACAD-1460EBB040BF}"/>
              </a:ext>
            </a:extLst>
          </p:cNvPr>
          <p:cNvSpPr/>
          <p:nvPr/>
        </p:nvSpPr>
        <p:spPr>
          <a:xfrm>
            <a:off x="838200" y="2214607"/>
            <a:ext cx="1170103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CREATE EVENT SESSION [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ChinookAlbumQueries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ON SERVER 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ADD EVENT 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sqlserver.sql_statement_completed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ACTION(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sqlserver.sql_text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WHERE (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 [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sqlserver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].[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like_i_sql_unicode_string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	([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sqlserver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].[</a:t>
            </a:r>
            <a:r>
              <a:rPr lang="en-US" sz="300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sql_text</a:t>
            </a: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N'%SELECT%ALBUM%'))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)</a:t>
            </a:r>
          </a:p>
          <a:p>
            <a:pPr lvl="0">
              <a:defRPr/>
            </a:pPr>
            <a:r>
              <a:rPr lang="en-US" sz="300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WITH (TRACK_CAUSALITY=ON);</a:t>
            </a:r>
          </a:p>
        </p:txBody>
      </p:sp>
    </p:spTree>
    <p:extLst>
      <p:ext uri="{BB962C8B-B14F-4D97-AF65-F5344CB8AC3E}">
        <p14:creationId xmlns:p14="http://schemas.microsoft.com/office/powerpoint/2010/main" val="2573273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D3D01-B373-4AC6-8F21-242DCB9A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Aptos Black "/>
              </a:rPr>
              <a:t>Tip #4 – XXXX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01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F436-DB8E-445A-A9BA-526B370C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>
                <a:latin typeface="Aptos Black "/>
              </a:rPr>
              <a:t>Tip #5 – What we can do to improve our EF queries</a:t>
            </a:r>
          </a:p>
        </p:txBody>
      </p:sp>
      <p:sp>
        <p:nvSpPr>
          <p:cNvPr id="4100" name="Freeform: Shape 70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84885B2C-0670-4F1C-A398-3F3F79C570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888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BA3-C1A1-4BEF-8ED2-DBBBF4A7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String interpolation in raw SQL methods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923A0-9F77-44FB-8870-34788AFD06BB}"/>
              </a:ext>
            </a:extLst>
          </p:cNvPr>
          <p:cNvSpPr/>
          <p:nvPr/>
        </p:nvSpPr>
        <p:spPr>
          <a:xfrm>
            <a:off x="527990" y="1354435"/>
            <a:ext cx="591768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FF"/>
                </a:solidFill>
                <a:latin typeface="Monaco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city = 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"Redmond"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endParaRPr lang="en-US" sz="2800" dirty="0">
              <a:solidFill>
                <a:srgbClr val="000000"/>
              </a:solidFill>
              <a:latin typeface="Monaco"/>
            </a:endParaRPr>
          </a:p>
          <a:p>
            <a:r>
              <a:rPr lang="en-US" sz="2800" dirty="0">
                <a:solidFill>
                  <a:srgbClr val="0000FF"/>
                </a:solidFill>
                <a:latin typeface="Monaco"/>
              </a:rPr>
              <a:t>using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sz="2800" dirty="0" err="1">
                <a:solidFill>
                  <a:srgbClr val="0000FF"/>
                </a:solidFill>
                <a:latin typeface="Monaco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context = </a:t>
            </a:r>
            <a:r>
              <a:rPr lang="en-US" sz="2800" dirty="0" err="1">
                <a:solidFill>
                  <a:srgbClr val="000000"/>
                </a:solidFill>
                <a:latin typeface="Monaco"/>
              </a:rPr>
              <a:t>CreateContext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())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Monaco"/>
              </a:rPr>
              <a:t>context.Customers.FromSql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$@“</a:t>
            </a:r>
          </a:p>
          <a:p>
            <a:r>
              <a:rPr lang="en-US" sz="2800" dirty="0">
                <a:solidFill>
                  <a:srgbClr val="A31515"/>
                </a:solidFill>
                <a:latin typeface="Monaco"/>
              </a:rPr>
              <a:t>		SELECT *</a:t>
            </a:r>
          </a:p>
          <a:p>
            <a:r>
              <a:rPr lang="en-US" sz="2800" dirty="0">
                <a:solidFill>
                  <a:srgbClr val="A31515"/>
                </a:solidFill>
                <a:latin typeface="Monaco"/>
              </a:rPr>
              <a:t>		FROM Customers</a:t>
            </a:r>
          </a:p>
          <a:p>
            <a:r>
              <a:rPr lang="en-US" sz="2800" dirty="0">
                <a:solidFill>
                  <a:srgbClr val="A31515"/>
                </a:solidFill>
                <a:latin typeface="Monaco"/>
              </a:rPr>
              <a:t>		WHERE City = </a:t>
            </a:r>
            <a:r>
              <a:rPr lang="en-US" sz="2800" dirty="0">
                <a:solidFill>
                  <a:srgbClr val="A31515"/>
                </a:solidFill>
                <a:latin typeface="inherit"/>
              </a:rPr>
              <a:t>{city}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}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A6CFF0-1C05-467A-A97D-A860F4DDD642}"/>
              </a:ext>
            </a:extLst>
          </p:cNvPr>
          <p:cNvSpPr/>
          <p:nvPr/>
        </p:nvSpPr>
        <p:spPr>
          <a:xfrm>
            <a:off x="1267740" y="5324753"/>
            <a:ext cx="2945037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Monaco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*</a:t>
            </a:r>
          </a:p>
          <a:p>
            <a:r>
              <a:rPr lang="en-US" sz="2800" dirty="0">
                <a:solidFill>
                  <a:srgbClr val="0000FF"/>
                </a:solidFill>
                <a:latin typeface="Monaco"/>
              </a:rPr>
              <a:t>FROM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Customers</a:t>
            </a:r>
          </a:p>
          <a:p>
            <a:r>
              <a:rPr lang="en-US" sz="2800" dirty="0">
                <a:solidFill>
                  <a:srgbClr val="0000FF"/>
                </a:solidFill>
                <a:latin typeface="Monaco"/>
              </a:rPr>
              <a:t>WHERE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City = @p0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F6E67-4B2B-432A-9A87-1D59242FC71F}"/>
              </a:ext>
            </a:extLst>
          </p:cNvPr>
          <p:cNvSpPr/>
          <p:nvPr/>
        </p:nvSpPr>
        <p:spPr>
          <a:xfrm>
            <a:off x="6374353" y="1354435"/>
            <a:ext cx="591768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FF"/>
                </a:solidFill>
                <a:latin typeface="Monaco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city = 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"Redmond"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endParaRPr lang="en-US" sz="2800" dirty="0">
              <a:solidFill>
                <a:srgbClr val="000000"/>
              </a:solidFill>
              <a:latin typeface="Monaco"/>
            </a:endParaRPr>
          </a:p>
          <a:p>
            <a:r>
              <a:rPr lang="en-US" sz="2800" dirty="0">
                <a:solidFill>
                  <a:srgbClr val="0000FF"/>
                </a:solidFill>
                <a:latin typeface="Monaco"/>
              </a:rPr>
              <a:t>using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sz="2800" dirty="0" err="1">
                <a:solidFill>
                  <a:srgbClr val="0000FF"/>
                </a:solidFill>
                <a:latin typeface="Monaco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context = </a:t>
            </a:r>
            <a:r>
              <a:rPr lang="en-US" sz="2800" dirty="0" err="1">
                <a:solidFill>
                  <a:srgbClr val="000000"/>
                </a:solidFill>
                <a:latin typeface="Monaco"/>
              </a:rPr>
              <a:t>CreateContext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())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     </a:t>
            </a:r>
            <a:r>
              <a:rPr lang="en-US" sz="2800" dirty="0" err="1">
                <a:solidFill>
                  <a:srgbClr val="000000"/>
                </a:solidFill>
                <a:latin typeface="Monaco"/>
              </a:rPr>
              <a:t>FormattableString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 query =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	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$@“SELECT *</a:t>
            </a:r>
          </a:p>
          <a:p>
            <a:r>
              <a:rPr lang="en-US" sz="2800" dirty="0">
                <a:solidFill>
                  <a:srgbClr val="A31515"/>
                </a:solidFill>
                <a:latin typeface="Monaco"/>
              </a:rPr>
              <a:t>	FROM Customers</a:t>
            </a:r>
          </a:p>
          <a:p>
            <a:r>
              <a:rPr lang="en-US" sz="2800" dirty="0">
                <a:solidFill>
                  <a:srgbClr val="A31515"/>
                </a:solidFill>
                <a:latin typeface="Monaco"/>
              </a:rPr>
              <a:t>	WHERE City = </a:t>
            </a:r>
            <a:r>
              <a:rPr lang="en-US" sz="2800" dirty="0">
                <a:solidFill>
                  <a:srgbClr val="A31515"/>
                </a:solidFill>
                <a:latin typeface="inherit"/>
              </a:rPr>
              <a:t>{city}</a:t>
            </a:r>
            <a:r>
              <a:rPr lang="en-US" sz="2800" dirty="0">
                <a:solidFill>
                  <a:srgbClr val="A31515"/>
                </a:solidFill>
                <a:latin typeface="Monaco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     </a:t>
            </a:r>
            <a:r>
              <a:rPr lang="en-US" sz="2800" dirty="0" err="1">
                <a:solidFill>
                  <a:srgbClr val="000000"/>
                </a:solidFill>
                <a:latin typeface="Monaco"/>
              </a:rPr>
              <a:t>context.Customers.FromSql</a:t>
            </a:r>
            <a:r>
              <a:rPr lang="en-US" sz="2800" dirty="0">
                <a:solidFill>
                  <a:srgbClr val="000000"/>
                </a:solidFill>
                <a:latin typeface="Monaco"/>
              </a:rPr>
              <a:t>(query);</a:t>
            </a:r>
          </a:p>
          <a:p>
            <a:r>
              <a:rPr lang="en-US" sz="2800" dirty="0">
                <a:solidFill>
                  <a:srgbClr val="000000"/>
                </a:solidFill>
                <a:latin typeface="Monaco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087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0C24-364A-4C19-8D8F-ECADAF01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Explicitly Compiled Queries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D6217C5-15F1-442A-BABA-90137D06B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65" y="4322962"/>
            <a:ext cx="11539392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public async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Task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Album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&gt;&gt;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GetAllAlbumsAsync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 =&gt;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await 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_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queryGetAllAlbums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this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).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ToListAsync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454F729-B239-4149-9093-E9942646B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66" y="2308094"/>
            <a:ext cx="11810533" cy="1200329"/>
          </a:xfrm>
          <a:prstGeom prst="rect">
            <a:avLst/>
          </a:prstGeom>
          <a:solidFill>
            <a:schemeClr val="tx2">
              <a:lumMod val="9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private static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readonly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71591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Func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ChinookContext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AsyncEnumerable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&lt;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Album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&gt;&gt;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_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queryGetAllAlbums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en-US" sz="2400" dirty="0">
                <a:solidFill>
                  <a:srgbClr val="262626"/>
                </a:solidFill>
                <a:latin typeface="Source Code Pro" panose="020B050903040302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EF.CompileAsyncQuery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((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ChinookContext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) =&gt;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db.Album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62626"/>
                </a:solidFill>
                <a:effectLst/>
                <a:latin typeface="Source Code Pro" panose="020B0509030403020204" pitchFamily="49" charset="0"/>
              </a:rPr>
              <a:t>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4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loevy.com/content/uploads/2016/10/555handshake.jpg">
            <a:extLst>
              <a:ext uri="{FF2B5EF4-FFF2-40B4-BE49-F238E27FC236}">
                <a16:creationId xmlns:a16="http://schemas.microsoft.com/office/drawing/2014/main" id="{778A9EC0-6E74-4BC7-98BF-10EC8CC911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0401D-A38B-4EF5-9B5A-E34C0E1C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021" y="3231931"/>
            <a:ext cx="3852041" cy="18340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latin typeface="Aptos Black "/>
              </a:rPr>
              <a:t>Be nice to your DBA!</a:t>
            </a:r>
          </a:p>
        </p:txBody>
      </p:sp>
      <p:cxnSp>
        <p:nvCxnSpPr>
          <p:cNvPr id="3084" name="Straight Connector 7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439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9F69-5332-494D-93B6-B7F4C154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ellipse">
            <a:avLst/>
          </a:prstGeom>
          <a:solidFill>
            <a:srgbClr val="FFFFFF"/>
          </a:solidFill>
          <a:ln w="174625" cmpd="thinThick">
            <a:solidFill>
              <a:srgbClr val="FFFFFF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rgbClr val="262626"/>
                </a:solidFill>
                <a:latin typeface="Aptos Black "/>
              </a:rPr>
              <a:t>Wrap Up!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7B5A6-7B59-2121-F91C-2049D158A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232" y="517648"/>
            <a:ext cx="5663414" cy="56634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6AB14-98AC-912D-DDF6-EE1198DFD06E}"/>
              </a:ext>
            </a:extLst>
          </p:cNvPr>
          <p:cNvSpPr txBox="1"/>
          <p:nvPr/>
        </p:nvSpPr>
        <p:spPr>
          <a:xfrm>
            <a:off x="90440" y="3806087"/>
            <a:ext cx="6603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effectLst/>
                <a:latin typeface="Aptos Display" panose="020B0004020202020204" pitchFamily="34" charset="0"/>
              </a:rPr>
              <a:t>github.com/cwoodruff/</a:t>
            </a:r>
            <a:r>
              <a:rPr lang="en-US" sz="2800" b="0" i="0" dirty="0" err="1">
                <a:effectLst/>
                <a:latin typeface="Aptos Display" panose="020B0004020202020204" pitchFamily="34" charset="0"/>
              </a:rPr>
              <a:t>EFCorePerfDemos</a:t>
            </a:r>
            <a:endParaRPr lang="en-US" sz="28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095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4E8F06FA-7779-CB41-6751-CE4E92F59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9556" y="2395649"/>
            <a:ext cx="5136444" cy="1944084"/>
          </a:xfrm>
        </p:spPr>
        <p:txBody>
          <a:bodyPr/>
          <a:lstStyle/>
          <a:p>
            <a:r>
              <a:rPr lang="en-US" dirty="0">
                <a:latin typeface="Aptos Black "/>
              </a:rPr>
              <a:t>Thank You!!!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333AEB48-0CCB-17D7-6903-BEA439CC58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@woodruff.dev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9B5986BB-30E1-91CE-9B7C-CD0ACD8C2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chris.woodruff</a:t>
            </a:r>
            <a:endParaRPr lang="en-US" dirty="0">
              <a:latin typeface="+mn-lt"/>
            </a:endParaRPr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FF06DB95-F63A-B8A8-5BF0-3EBA2DE9F6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cwoodruff</a:t>
            </a:r>
          </a:p>
        </p:txBody>
      </p:sp>
    </p:spTree>
    <p:extLst>
      <p:ext uri="{BB962C8B-B14F-4D97-AF65-F5344CB8AC3E}">
        <p14:creationId xmlns:p14="http://schemas.microsoft.com/office/powerpoint/2010/main" val="187039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etective">
      <a:majorFont>
        <a:latin typeface="SF Comic Script"/>
        <a:ea typeface=""/>
        <a:cs typeface=""/>
      </a:majorFont>
      <a:minorFont>
        <a:latin typeface="Market_Dec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Vlastní 1">
      <a:dk1>
        <a:srgbClr val="2C2D2B"/>
      </a:dk1>
      <a:lt1>
        <a:sysClr val="window" lastClr="FFFFFF"/>
      </a:lt1>
      <a:dk2>
        <a:srgbClr val="46AFE4"/>
      </a:dk2>
      <a:lt2>
        <a:srgbClr val="2C2D2B"/>
      </a:lt2>
      <a:accent1>
        <a:srgbClr val="FFFFFF"/>
      </a:accent1>
      <a:accent2>
        <a:srgbClr val="46AFE4"/>
      </a:accent2>
      <a:accent3>
        <a:srgbClr val="2C2D2B"/>
      </a:accent3>
      <a:accent4>
        <a:srgbClr val="FFFFFF"/>
      </a:accent4>
      <a:accent5>
        <a:srgbClr val="46AFE4"/>
      </a:accent5>
      <a:accent6>
        <a:srgbClr val="2C2D2B"/>
      </a:accent6>
      <a:hlink>
        <a:srgbClr val="FFFFFF"/>
      </a:hlink>
      <a:folHlink>
        <a:srgbClr val="46AFE4"/>
      </a:folHlink>
    </a:clrScheme>
    <a:fontScheme name="Vlastní 2">
      <a:majorFont>
        <a:latin typeface="Aptos Black 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spcBef>
            <a:spcPts val="1200"/>
          </a:spcBef>
          <a:defRPr sz="2400" dirty="0">
            <a:solidFill>
              <a:schemeClr val="bg1"/>
            </a:solidFill>
            <a:latin typeface="Prometo Light" panose="020B040403020306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823</Words>
  <Application>Microsoft Office PowerPoint</Application>
  <PresentationFormat>Widescreen</PresentationFormat>
  <Paragraphs>100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41" baseType="lpstr">
      <vt:lpstr>Aptos Black </vt:lpstr>
      <vt:lpstr>Aptos Display</vt:lpstr>
      <vt:lpstr>Aptos Light</vt:lpstr>
      <vt:lpstr>Aptos Light (Body)</vt:lpstr>
      <vt:lpstr>Arial</vt:lpstr>
      <vt:lpstr>Calibri</vt:lpstr>
      <vt:lpstr>Hack</vt:lpstr>
      <vt:lpstr>inherit</vt:lpstr>
      <vt:lpstr>Market_Deco</vt:lpstr>
      <vt:lpstr>Monaco</vt:lpstr>
      <vt:lpstr>Prometo Light</vt:lpstr>
      <vt:lpstr>Prometo Medium</vt:lpstr>
      <vt:lpstr>Prometo XBold</vt:lpstr>
      <vt:lpstr>Raleway Light</vt:lpstr>
      <vt:lpstr>SF Comic Script</vt:lpstr>
      <vt:lpstr>Source Code Pro</vt:lpstr>
      <vt:lpstr>Office Theme</vt:lpstr>
      <vt:lpstr>Motiv Office</vt:lpstr>
      <vt:lpstr>Behind the LINQ</vt:lpstr>
      <vt:lpstr>Story</vt:lpstr>
      <vt:lpstr>PowerPoint Presentation</vt:lpstr>
      <vt:lpstr>I am not a dba!</vt:lpstr>
      <vt:lpstr>We are not going to attack DBAs here! </vt:lpstr>
      <vt:lpstr>What we want to solve?</vt:lpstr>
      <vt:lpstr>Demo</vt:lpstr>
      <vt:lpstr>Goals for this talk!</vt:lpstr>
      <vt:lpstr>Tip #1 – Have better databases</vt:lpstr>
      <vt:lpstr>Tip #2 – understand query Plans</vt:lpstr>
      <vt:lpstr>PowerPoint Presentation</vt:lpstr>
      <vt:lpstr>PowerPoint Presentation</vt:lpstr>
      <vt:lpstr>Tip #3 – Query Tags and Extended Events</vt:lpstr>
      <vt:lpstr>Query Tags</vt:lpstr>
      <vt:lpstr>Query Tags</vt:lpstr>
      <vt:lpstr>Extended Events</vt:lpstr>
      <vt:lpstr>Tip #4 – XXXX</vt:lpstr>
      <vt:lpstr>Tip #5 – What we can do to improve our EF queries</vt:lpstr>
      <vt:lpstr>String interpolation in raw SQL methods</vt:lpstr>
      <vt:lpstr>Explicitly Compiled Queries</vt:lpstr>
      <vt:lpstr>Be nice to your DBA!</vt:lpstr>
      <vt:lpstr>Wrap Up!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Framework Debugging using SQL Server</dc:title>
  <dc:creator>Chris Woodruff</dc:creator>
  <cp:lastModifiedBy>Chris Woodruff</cp:lastModifiedBy>
  <cp:revision>14</cp:revision>
  <dcterms:created xsi:type="dcterms:W3CDTF">2019-06-21T07:38:25Z</dcterms:created>
  <dcterms:modified xsi:type="dcterms:W3CDTF">2025-11-13T12:12:04Z</dcterms:modified>
</cp:coreProperties>
</file>