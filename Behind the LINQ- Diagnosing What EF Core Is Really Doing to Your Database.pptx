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2" r:id="rId2"/>
    <p:sldMasterId id="2147483677" r:id="rId3"/>
  </p:sldMasterIdLst>
  <p:notesMasterIdLst>
    <p:notesMasterId r:id="rId28"/>
  </p:notesMasterIdLst>
  <p:sldIdLst>
    <p:sldId id="262" r:id="rId4"/>
    <p:sldId id="258" r:id="rId5"/>
    <p:sldId id="257" r:id="rId6"/>
    <p:sldId id="267" r:id="rId7"/>
    <p:sldId id="266" r:id="rId8"/>
    <p:sldId id="259" r:id="rId9"/>
    <p:sldId id="293" r:id="rId10"/>
    <p:sldId id="275" r:id="rId11"/>
    <p:sldId id="268" r:id="rId12"/>
    <p:sldId id="260" r:id="rId13"/>
    <p:sldId id="285" r:id="rId14"/>
    <p:sldId id="291" r:id="rId15"/>
    <p:sldId id="299" r:id="rId16"/>
    <p:sldId id="300" r:id="rId17"/>
    <p:sldId id="287" r:id="rId18"/>
    <p:sldId id="288" r:id="rId19"/>
    <p:sldId id="290" r:id="rId20"/>
    <p:sldId id="289" r:id="rId21"/>
    <p:sldId id="264" r:id="rId22"/>
    <p:sldId id="272" r:id="rId23"/>
    <p:sldId id="273" r:id="rId24"/>
    <p:sldId id="292" r:id="rId25"/>
    <p:sldId id="265" r:id="rId26"/>
    <p:sldId id="297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8" autoAdjust="0"/>
    <p:restoredTop sz="95321" autoAdjust="0"/>
  </p:normalViewPr>
  <p:slideViewPr>
    <p:cSldViewPr snapToGrid="0">
      <p:cViewPr varScale="1">
        <p:scale>
          <a:sx n="68" d="100"/>
          <a:sy n="68" d="100"/>
        </p:scale>
        <p:origin x="34" y="259"/>
      </p:cViewPr>
      <p:guideLst/>
    </p:cSldViewPr>
  </p:slideViewPr>
  <p:outlineViewPr>
    <p:cViewPr>
      <p:scale>
        <a:sx n="33" d="100"/>
        <a:sy n="33" d="100"/>
      </p:scale>
      <p:origin x="0" y="-225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8" d="100"/>
          <a:sy n="68" d="100"/>
        </p:scale>
        <p:origin x="3546" y="4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19-06-20T09:14:36.5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0 160,'933'0,"-785"5,24 10,115 5,162-20,-206-1,108 9,154-2,-305-7,-34 0,234 4,-292 6,96 22,27 2,-150-28,64-5,23 0,904 12,-722-14,-41-5,132 0,-272 9,-133-4,-1-1,15-4,40-4,486-17,-503 26,-9 1,55-8,-75 2,27-3,0 3,29 2,2245 7,-1399-3,-777-6,9 0,379 7,-530-1,1-2,-1 0,2-3,1 1,0 1,17 0,255 4,14 0,-204-6,27-1,-76 7,516-10,-148 6,-252 5,1033-1,-953 14,-25-1,-141-12,148 5,30 1,-237-4,0 2,0 2,3 1,1 1,0-2,12 0,121 1,53-10,-62 1,235 14,52 0,-142-13,81-1,-313-4,1-4,5-3,-69 10,51-5,0 2,3 3,0 1,51-10,-88 7,69-11,0 5,52 2,-134 8,245-4,207-30,-354 25,60 4,-6 4,2-8,37-10,27-14,-155 22,-17 2,7-5,-43 10,1 0,-1 2,1 1,21 3,-5-2,285 1,-311 0,0 0,9 3,28 3,-29-5,0 1,15 5,2 0,-20-5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C17D15-CBD5-4428-982A-361C9FCEBCEB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F5F22-6F6A-4F61-8065-703362379D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6227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D91DD3D-A8C7-435A-9592-7745C7B0B046}" type="slidenum">
              <a:rPr lang="cs-CZ" smtClean="0"/>
              <a:t>24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78023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image" Target="../media/image4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image" Target="../media/image12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13.svg"/><Relationship Id="rId9" Type="http://schemas.openxmlformats.org/officeDocument/2006/relationships/image" Target="../media/image2.png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14A4-27AD-417E-BFAC-BE88B21914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E8F9E5-8882-4EE3-8D12-A5BE8B09ED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E66FC3-8757-4469-B4E6-3816D522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1C1A3-C7EC-4E45-90A2-F1CD19218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C7B903-7D94-4CE8-8715-40BC06147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208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0B5D3-FAEB-4BED-B38E-BD97BAE65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AF5BD-F86B-4242-862F-6D7E89CEC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CDBE1-CC4E-4302-BF1B-C9BCA24F9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C6C12-0FA6-4DE8-86C6-1934E68A2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8121D-94A7-46D3-95A1-1ADE1CB6F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560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B99CC-6209-41AD-8C23-EABC87836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4A8EB-6E00-4ACB-9904-5FB8F6A5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3D4CB5-6BEB-45D7-851A-F1D5AD6A4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D6A8A-059B-46C3-A530-89AF446E2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5F819-3813-41DC-8523-F2775776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550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2C9D8-2E91-4925-8096-972B16EC0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D57536-9D2E-4616-8887-D737085062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DF8E14-EA7B-4EEC-8E8F-03E84E647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6DED05-76BD-4667-8A93-BCBE96614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0355BA-16EC-40A2-9D52-2DA8BEED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B08374-7E96-431F-9B6A-6A4BE62C3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58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6F240-F7C9-418B-9E42-835DD6710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2F95D-53CB-4E4E-8ED9-4E9D2B41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7D9408-BC0D-4F78-9113-AE6E79D99E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B2927E-2D92-4D1F-9F10-1888D5AA7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17AFF8-E67F-4804-8B01-E80CE5898D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BCB7BE-DF56-40A4-A799-066F38F84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CA82AB-AF87-4772-884A-1E38AC5AF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69A8CF-C136-4A8B-8F3D-94DA7FA0C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6281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7F665-ED79-4FC9-AC2C-76A69BE2B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0F5088-C231-4A95-AC0A-E1C7443D8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44EA22-E043-49FB-B61B-B79FB310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F76125-5028-4E25-8E88-B2B43538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83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8F9BDF-EC61-4748-943F-2969A2C9D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3D36EB-8684-4588-9F05-D66670933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162DCB-8422-4AB3-BF0A-63343FF04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3982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7CCD07-4483-4D92-96B7-5AFA4E3EA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EBFDB-41CD-4758-8B6C-9F735226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2488DE-716D-4B6A-B614-35B3BFBF00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55E0BA-4A85-462B-8E0E-03EE57CDD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03A79-7FE5-4987-BE11-47C006398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3677A8-9E75-4BE1-9013-A521886C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858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3DD93-1C34-42E7-8DE7-5FA339235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E72D1A-7AC7-430C-884E-411F292E3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F32511-89BA-42F2-8FD9-7630E4DE4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BAE731-9C61-4CE6-86F6-74ACDB52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BC7B42-DC7B-4BE1-987B-A162B5BA9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0729B3-205D-43A1-98F7-F80C55A24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3751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18FB1-DFB7-41E9-B71F-7C5A949BB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C94D04-65E6-41AF-BE86-818A97189D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3BAA3D-3827-4E4B-8B70-DB2CA5C98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87A471-04ED-4AD0-BB8C-9C18EFFA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AFED-1EA6-4998-A82E-E0CEA45D11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027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62213F-4A60-4009-9D24-0C3352F11E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848B3-D552-4534-8E45-6C5F89F6F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29A90-CE52-4CFD-B430-3EF906A13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62E5BA-621F-4484-B7F6-FB53107B9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5B358-1B99-4693-B469-3295A4DF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9572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Type your </a:t>
            </a:r>
            <a:r>
              <a:rPr lang="en-US" err="1"/>
              <a:t>ti</a:t>
            </a:r>
            <a:r>
              <a:rPr lang="cs-CZ"/>
              <a:t>t</a:t>
            </a:r>
            <a:r>
              <a:rPr lang="en-US"/>
              <a:t>le here</a:t>
            </a:r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+mj-lt"/>
              </a:defRPr>
            </a:lvl1pPr>
          </a:lstStyle>
          <a:p>
            <a:pPr lvl="0"/>
            <a:r>
              <a:rPr lang="cs-CZ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Job title, Company</a:t>
            </a:r>
            <a:endParaRPr lang="cs-CZ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endParaRPr lang="cs-CZ"/>
          </a:p>
        </p:txBody>
      </p:sp>
      <p:pic>
        <p:nvPicPr>
          <p:cNvPr id="6" name="Obrázek 5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093702B-626F-EAF1-1B91-2B226ECA6D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0776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nd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hák, design&#10;&#10;Popis byl vytvořen automaticky">
            <a:extLst>
              <a:ext uri="{FF2B5EF4-FFF2-40B4-BE49-F238E27FC236}">
                <a16:creationId xmlns:a16="http://schemas.microsoft.com/office/drawing/2014/main" id="{EBCEBEB8-B201-5BCB-19EE-FD429F589D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3778" y="2395649"/>
            <a:ext cx="5262222" cy="1944084"/>
          </a:xfrm>
        </p:spPr>
        <p:txBody>
          <a:bodyPr anchor="ctr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Prometo XBold" panose="020B0804030203060203" pitchFamily="34" charset="0"/>
              </a:defRPr>
            </a:lvl1pPr>
          </a:lstStyle>
          <a:p>
            <a:r>
              <a:rPr lang="en-US"/>
              <a:t>Thank You Note</a:t>
            </a:r>
            <a:endParaRPr lang="cs-CZ"/>
          </a:p>
        </p:txBody>
      </p:sp>
      <p:sp>
        <p:nvSpPr>
          <p:cNvPr id="15" name="Zástupný text 9">
            <a:extLst>
              <a:ext uri="{FF2B5EF4-FFF2-40B4-BE49-F238E27FC236}">
                <a16:creationId xmlns:a16="http://schemas.microsoft.com/office/drawing/2014/main" id="{C5ACBB49-9197-4A51-833A-05D439097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8067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en-US" dirty="0"/>
              <a:t>Twitter</a:t>
            </a:r>
            <a:endParaRPr lang="cs-CZ" dirty="0"/>
          </a:p>
        </p:txBody>
      </p:sp>
      <p:sp>
        <p:nvSpPr>
          <p:cNvPr id="17" name="Zástupný text 9">
            <a:extLst>
              <a:ext uri="{FF2B5EF4-FFF2-40B4-BE49-F238E27FC236}">
                <a16:creationId xmlns:a16="http://schemas.microsoft.com/office/drawing/2014/main" id="{5ED8E78F-D232-5BA9-44BC-3D0F2CFCE0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43276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LinkedIn</a:t>
            </a:r>
          </a:p>
        </p:txBody>
      </p:sp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59867425-5C2E-6DA4-BF49-9A19150989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75066" y="5235876"/>
            <a:ext cx="363419" cy="363419"/>
          </a:xfrm>
          <a:prstGeom prst="rect">
            <a:avLst/>
          </a:prstGeom>
        </p:spPr>
      </p:pic>
      <p:sp>
        <p:nvSpPr>
          <p:cNvPr id="9" name="Zástupný text 9">
            <a:extLst>
              <a:ext uri="{FF2B5EF4-FFF2-40B4-BE49-F238E27FC236}">
                <a16:creationId xmlns:a16="http://schemas.microsoft.com/office/drawing/2014/main" id="{D2C4FB82-A708-2912-24CA-39442AAD05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9188" y="5175606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GitHub</a:t>
            </a:r>
          </a:p>
        </p:txBody>
      </p:sp>
      <p:sp>
        <p:nvSpPr>
          <p:cNvPr id="13" name="Zástupný symbol pro datum 1">
            <a:extLst>
              <a:ext uri="{FF2B5EF4-FFF2-40B4-BE49-F238E27FC236}">
                <a16:creationId xmlns:a16="http://schemas.microsoft.com/office/drawing/2014/main" id="{4CCABEB8-5B52-8766-B138-BF0F6FCB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14" name="Zástupný symbol pro zápatí 2">
            <a:extLst>
              <a:ext uri="{FF2B5EF4-FFF2-40B4-BE49-F238E27FC236}">
                <a16:creationId xmlns:a16="http://schemas.microsoft.com/office/drawing/2014/main" id="{1CFE454B-8562-9B8B-F82C-F6924FC1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pic>
        <p:nvPicPr>
          <p:cNvPr id="3" name="Obrázek 2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8E4BBC5-0139-B475-AFBA-D9D67F18FC4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  <p:pic>
        <p:nvPicPr>
          <p:cNvPr id="6" name="Grafický objekt 17">
            <a:extLst>
              <a:ext uri="{FF2B5EF4-FFF2-40B4-BE49-F238E27FC236}">
                <a16:creationId xmlns:a16="http://schemas.microsoft.com/office/drawing/2014/main" id="{01CD6334-70CE-4FC5-871E-BC6BEC100FE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9153" y="5235877"/>
            <a:ext cx="363420" cy="363418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B8FC9E77-2242-F871-BC1B-DF500D10C88B}"/>
              </a:ext>
            </a:extLst>
          </p:cNvPr>
          <p:cNvSpPr/>
          <p:nvPr userDrawn="1"/>
        </p:nvSpPr>
        <p:spPr>
          <a:xfrm>
            <a:off x="726830" y="5230949"/>
            <a:ext cx="412800" cy="406178"/>
          </a:xfrm>
          <a:prstGeom prst="ellipse">
            <a:avLst/>
          </a:prstGeom>
          <a:solidFill>
            <a:srgbClr val="FDAD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B8BDBF-DF0F-FDCF-5E9F-22DA2D6395E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392" y="5291190"/>
            <a:ext cx="307676" cy="3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4109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Obrázek 8" descr="Obsah obrázku hák, design&#10;&#10;Popis byl vytvořen automaticky">
            <a:extLst>
              <a:ext uri="{FF2B5EF4-FFF2-40B4-BE49-F238E27FC236}">
                <a16:creationId xmlns:a16="http://schemas.microsoft.com/office/drawing/2014/main" id="{B217928E-1BCD-57AB-E15F-107279254F1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195020"/>
            <a:ext cx="5428591" cy="838233"/>
          </a:xfrm>
        </p:spPr>
        <p:txBody>
          <a:bodyPr anchor="ctr">
            <a:noAutofit/>
          </a:bodyPr>
          <a:lstStyle>
            <a:lvl1pPr algn="l">
              <a:defRPr sz="4400"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Type your </a:t>
            </a:r>
            <a:r>
              <a:rPr lang="en-US" err="1"/>
              <a:t>ti</a:t>
            </a:r>
            <a:r>
              <a:rPr lang="cs-CZ"/>
              <a:t>t</a:t>
            </a:r>
            <a:r>
              <a:rPr lang="en-US"/>
              <a:t>le here</a:t>
            </a:r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6CD1CE4D-5AA3-4F8D-BB4D-E04B1498F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16" name="Zástupný text 13">
            <a:extLst>
              <a:ext uri="{FF2B5EF4-FFF2-40B4-BE49-F238E27FC236}">
                <a16:creationId xmlns:a16="http://schemas.microsoft.com/office/drawing/2014/main" id="{845418B6-3F48-4BB3-95CD-B33ACDC2F1C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1375" y="4764898"/>
            <a:ext cx="5425313" cy="488140"/>
          </a:xfrm>
        </p:spPr>
        <p:txBody>
          <a:bodyPr anchor="ctr">
            <a:normAutofit/>
          </a:bodyPr>
          <a:lstStyle>
            <a:lvl1pPr marL="0" indent="0">
              <a:buNone/>
              <a:defRPr sz="2400">
                <a:solidFill>
                  <a:srgbClr val="FDAD00"/>
                </a:solidFill>
                <a:latin typeface="+mj-lt"/>
              </a:defRPr>
            </a:lvl1pPr>
          </a:lstStyle>
          <a:p>
            <a:pPr lvl="0"/>
            <a:r>
              <a:rPr lang="cs-CZ"/>
              <a:t>Name</a:t>
            </a:r>
          </a:p>
        </p:txBody>
      </p:sp>
      <p:sp>
        <p:nvSpPr>
          <p:cNvPr id="13" name="Zástupný text 11">
            <a:extLst>
              <a:ext uri="{FF2B5EF4-FFF2-40B4-BE49-F238E27FC236}">
                <a16:creationId xmlns:a16="http://schemas.microsoft.com/office/drawing/2014/main" id="{966569C8-862A-4685-AF99-952DCD94AD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200" y="5334226"/>
            <a:ext cx="5425313" cy="838233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bg1">
                    <a:lumMod val="85000"/>
                  </a:schemeClr>
                </a:solidFill>
                <a:latin typeface="+mn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1E2774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Job title, Company</a:t>
            </a:r>
            <a:endParaRPr lang="cs-CZ"/>
          </a:p>
        </p:txBody>
      </p:sp>
      <p:sp>
        <p:nvSpPr>
          <p:cNvPr id="11" name="Zástupný text 10">
            <a:extLst>
              <a:ext uri="{FF2B5EF4-FFF2-40B4-BE49-F238E27FC236}">
                <a16:creationId xmlns:a16="http://schemas.microsoft.com/office/drawing/2014/main" id="{AD69D3F0-602C-E074-5180-B4AF8F42B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8200" y="3187875"/>
            <a:ext cx="5429250" cy="711200"/>
          </a:xfrm>
          <a:noFill/>
          <a:ln>
            <a:noFill/>
          </a:ln>
        </p:spPr>
        <p:txBody>
          <a:bodyPr/>
          <a:lstStyle>
            <a:lvl1pPr marL="0" indent="0">
              <a:buNone/>
              <a:defRPr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endParaRPr lang="cs-CZ"/>
          </a:p>
        </p:txBody>
      </p:sp>
      <p:pic>
        <p:nvPicPr>
          <p:cNvPr id="6" name="Obrázek 5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093702B-626F-EAF1-1B91-2B226ECA6D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513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Obrázek 11" descr="Obsah obrázku mrakodrap, budova, mlha&#10;&#10;Popis byl vytvořen automaticky">
            <a:extLst>
              <a:ext uri="{FF2B5EF4-FFF2-40B4-BE49-F238E27FC236}">
                <a16:creationId xmlns:a16="http://schemas.microsoft.com/office/drawing/2014/main" id="{DF27DB7E-159D-BF57-82CE-D268F4CBB37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tx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C3CAC533-5FD2-BB4A-6849-7EA7B648BD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270FF8D9-8840-98F0-F351-4DA76880F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6" name="Zástupný text 5">
            <a:extLst>
              <a:ext uri="{FF2B5EF4-FFF2-40B4-BE49-F238E27FC236}">
                <a16:creationId xmlns:a16="http://schemas.microsoft.com/office/drawing/2014/main" id="{2D3F1DB4-97D2-592E-66A0-ED7D5F9C596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1887538"/>
            <a:ext cx="10515600" cy="3954462"/>
          </a:xfrm>
        </p:spPr>
        <p:txBody>
          <a:bodyPr/>
          <a:lstStyle>
            <a:lvl1pPr>
              <a:buClr>
                <a:srgbClr val="FDAD00"/>
              </a:buClr>
              <a:defRPr>
                <a:latin typeface="+mn-lt"/>
              </a:defRPr>
            </a:lvl1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94624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or-diagram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 descr="Obsah obrázku skica, bílé, design&#10;&#10;Popis byl vytvořen automaticky">
            <a:extLst>
              <a:ext uri="{FF2B5EF4-FFF2-40B4-BE49-F238E27FC236}">
                <a16:creationId xmlns:a16="http://schemas.microsoft.com/office/drawing/2014/main" id="{526EC7E6-FF2F-401E-2AD3-3890CEBA81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rgbClr val="2C2E35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rgbClr val="2C2E35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971060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E5B7837-A4FD-33FA-6CE9-DCBAFB41A8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DDC60AF0-00E4-3F07-6639-E5938D436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773994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ástupný symbol pro datum 1">
            <a:extLst>
              <a:ext uri="{FF2B5EF4-FFF2-40B4-BE49-F238E27FC236}">
                <a16:creationId xmlns:a16="http://schemas.microsoft.com/office/drawing/2014/main" id="{B9859F0D-D970-E062-4FE9-E31D7A4B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7C622EA0-FB28-E9D0-80C1-2E36FE081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2" name="Zástupný text 2">
            <a:extLst>
              <a:ext uri="{FF2B5EF4-FFF2-40B4-BE49-F238E27FC236}">
                <a16:creationId xmlns:a16="http://schemas.microsoft.com/office/drawing/2014/main" id="{67335623-491D-E2B1-17CC-5590AD3263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102769"/>
            <a:ext cx="5284787" cy="652462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rgbClr val="2C2E35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142673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54CD9274-DFA2-6DDC-2F73-9C28E35B47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14.11.2025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9698A581-C37C-46FC-67D3-EAA89DC6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81110E8D-F590-6F54-2DD5-1E7922B769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32968" y="3077368"/>
            <a:ext cx="5326063" cy="703263"/>
          </a:xfrm>
        </p:spPr>
        <p:txBody>
          <a:bodyPr>
            <a:normAutofit/>
          </a:bodyPr>
          <a:lstStyle>
            <a:lvl1pPr marL="0" indent="0" algn="ctr">
              <a:buNone/>
              <a:defRPr sz="4400" b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561961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2D1D61FE-CF0F-B56A-5F96-C63EBEA2749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6F259CA2-8A1B-8132-65E0-3A6F7ED3C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35BACB64-B10A-F1E8-CBF9-BDD37FA59F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3606" y="3095493"/>
            <a:ext cx="5284787" cy="664898"/>
          </a:xfrm>
        </p:spPr>
        <p:txBody>
          <a:bodyPr>
            <a:normAutofit/>
          </a:bodyPr>
          <a:lstStyle>
            <a:lvl1pPr marL="0" indent="0" algn="ctr">
              <a:buNone/>
              <a:defRPr sz="4400">
                <a:ln>
                  <a:solidFill>
                    <a:schemeClr val="bg1"/>
                  </a:solidFill>
                </a:ln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cs-CZ" err="1"/>
              <a:t>Lorem</a:t>
            </a:r>
            <a:r>
              <a:rPr lang="cs-CZ"/>
              <a:t> </a:t>
            </a:r>
            <a:r>
              <a:rPr lang="cs-CZ" err="1"/>
              <a:t>Ipsum</a:t>
            </a:r>
            <a:r>
              <a:rPr lang="cs-CZ"/>
              <a:t> </a:t>
            </a:r>
            <a:r>
              <a:rPr lang="cs-CZ" err="1"/>
              <a:t>Dolor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857903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-with-content-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594A8E2-D392-7B23-D961-AE9B9D313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6FEC9AA1-3B26-61B1-DA0E-70A7C3A15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8559858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ek 5" descr="Obsah obrázku snímek obrazovky, černá&#10;&#10;Popis byl vytvořen automaticky">
            <a:extLst>
              <a:ext uri="{FF2B5EF4-FFF2-40B4-BE49-F238E27FC236}">
                <a16:creationId xmlns:a16="http://schemas.microsoft.com/office/drawing/2014/main" id="{86E7B99C-0191-CCEF-19AA-9CA0DA4794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4B64A33A-BCE6-454E-A148-C2BC6C5F59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numCol="1"/>
          <a:lstStyle>
            <a:lvl1pPr algn="ctr">
              <a:defRPr>
                <a:solidFill>
                  <a:schemeClr val="bg1"/>
                </a:solidFill>
                <a:latin typeface="+mj-lt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633A0526-E99A-4184-9EBB-B3AD1AC68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906A7-2EE8-4435-808F-0C317E75D4DD}" type="datetime1">
              <a:rPr lang="cs-CZ" smtClean="0"/>
              <a:t>14.11.2025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0A255894-027D-4BEA-BD5C-9DFF9D3A0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10" name="Zástupný obsah 7">
            <a:extLst>
              <a:ext uri="{FF2B5EF4-FFF2-40B4-BE49-F238E27FC236}">
                <a16:creationId xmlns:a16="http://schemas.microsoft.com/office/drawing/2014/main" id="{5D08F643-AF14-49BF-AB29-B51882FFC92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80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cs-CZ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608284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de-or-diagram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ázek 4" descr="Obsah obrázku černá, design&#10;&#10;Popis byl vytvořen automaticky">
            <a:extLst>
              <a:ext uri="{FF2B5EF4-FFF2-40B4-BE49-F238E27FC236}">
                <a16:creationId xmlns:a16="http://schemas.microsoft.com/office/drawing/2014/main" id="{5B1D49E1-823B-2297-7671-0F2F15B2030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Zástupný symbol pro datum 1">
            <a:extLst>
              <a:ext uri="{FF2B5EF4-FFF2-40B4-BE49-F238E27FC236}">
                <a16:creationId xmlns:a16="http://schemas.microsoft.com/office/drawing/2014/main" id="{E9B5E37A-947A-22C0-1431-A92CEFAC7F7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7" name="Zástupný symbol pro zápatí 2">
            <a:extLst>
              <a:ext uri="{FF2B5EF4-FFF2-40B4-BE49-F238E27FC236}">
                <a16:creationId xmlns:a16="http://schemas.microsoft.com/office/drawing/2014/main" id="{8EFD9B21-E695-CBBF-CA14-F26A4F13D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sp>
        <p:nvSpPr>
          <p:cNvPr id="10" name="Nadpis 1">
            <a:extLst>
              <a:ext uri="{FF2B5EF4-FFF2-40B4-BE49-F238E27FC236}">
                <a16:creationId xmlns:a16="http://schemas.microsoft.com/office/drawing/2014/main" id="{A88B239D-B7EB-C7D0-4548-2B5B5FBAF5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numCol="1"/>
          <a:lstStyle>
            <a:lvl1pPr algn="ctr">
              <a:defRPr>
                <a:solidFill>
                  <a:schemeClr val="bg1"/>
                </a:solidFill>
                <a:latin typeface="Prometo Medium" panose="020B070403020306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12" name="Zástupný obsah 7">
            <a:extLst>
              <a:ext uri="{FF2B5EF4-FFF2-40B4-BE49-F238E27FC236}">
                <a16:creationId xmlns:a16="http://schemas.microsoft.com/office/drawing/2014/main" id="{55BBEDAF-0E04-144C-A500-9EEE91B030B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912690"/>
            <a:ext cx="10515600" cy="3921182"/>
          </a:xfrm>
        </p:spPr>
        <p:txBody>
          <a:bodyPr>
            <a:normAutofit/>
          </a:bodyPr>
          <a:lstStyle>
            <a:lvl1pPr marL="0" indent="0">
              <a:buClr>
                <a:srgbClr val="5D93DD"/>
              </a:buClr>
              <a:buNone/>
              <a:defRPr sz="2800">
                <a:solidFill>
                  <a:schemeClr val="bg1"/>
                </a:solidFill>
                <a:latin typeface="Prometo Light" panose="020B0404030203060203" pitchFamily="34" charset="0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Object</a:t>
            </a:r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59528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Picture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B9F2179B-71C7-013D-A59B-52C15F0FC2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23D2D5D8-AEB7-995D-E651-B78331632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2458434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-with-content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6FF20B1-1A7B-4BEA-9B1E-75EFBAF4C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8" y="987424"/>
            <a:ext cx="4114800" cy="1069975"/>
          </a:xfrm>
        </p:spPr>
        <p:txBody>
          <a:bodyPr anchor="ctr"/>
          <a:lstStyle>
            <a:lvl1pPr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Title</a:t>
            </a:r>
            <a:endParaRPr lang="cs-CZ"/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3CF1BC82-DCC4-45E1-8D44-1FB82CF430A6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Image</a:t>
            </a:r>
            <a:endParaRPr lang="cs-CZ"/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0721B265-8CAF-48F3-B8CB-141AC31CFA8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6612" y="2261616"/>
            <a:ext cx="4116388" cy="3599434"/>
          </a:xfrm>
        </p:spPr>
        <p:txBody>
          <a:bodyPr>
            <a:normAutofit/>
          </a:bodyPr>
          <a:lstStyle>
            <a:lvl1pPr>
              <a:buClr>
                <a:srgbClr val="FDAD00"/>
              </a:buClr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cs-CZ"/>
              <a:t>Text</a:t>
            </a:r>
          </a:p>
        </p:txBody>
      </p:sp>
      <p:sp>
        <p:nvSpPr>
          <p:cNvPr id="4" name="Zástupný symbol pro datum 1">
            <a:extLst>
              <a:ext uri="{FF2B5EF4-FFF2-40B4-BE49-F238E27FC236}">
                <a16:creationId xmlns:a16="http://schemas.microsoft.com/office/drawing/2014/main" id="{5D14F6A2-AAF7-1834-59BF-E16839F6E9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8" name="Zástupný symbol pro zápatí 2">
            <a:extLst>
              <a:ext uri="{FF2B5EF4-FFF2-40B4-BE49-F238E27FC236}">
                <a16:creationId xmlns:a16="http://schemas.microsoft.com/office/drawing/2014/main" id="{31D93ED4-4A8C-2E3A-3A79-A0A843A7E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3112987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Picture-slide">
    <p:bg>
      <p:bgPr>
        <a:solidFill>
          <a:srgbClr val="FDAD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ástupný symbol pro datum 1">
            <a:extLst>
              <a:ext uri="{FF2B5EF4-FFF2-40B4-BE49-F238E27FC236}">
                <a16:creationId xmlns:a16="http://schemas.microsoft.com/office/drawing/2014/main" id="{C2598A6F-9C93-3D83-9034-BD98E9A3EF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fld id="{92357268-C79A-4225-9F2D-63360B661E37}" type="datetimeFigureOut">
              <a:rPr lang="cs-CZ" smtClean="0"/>
              <a:pPr/>
              <a:t>14.11.2025</a:t>
            </a:fld>
            <a:endParaRPr lang="cs-CZ"/>
          </a:p>
        </p:txBody>
      </p:sp>
      <p:sp>
        <p:nvSpPr>
          <p:cNvPr id="6" name="Zástupný symbol pro zápatí 2">
            <a:extLst>
              <a:ext uri="{FF2B5EF4-FFF2-40B4-BE49-F238E27FC236}">
                <a16:creationId xmlns:a16="http://schemas.microsoft.com/office/drawing/2014/main" id="{1C0C756A-3DA2-524F-CFE5-2B59D6A6B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>
            <a:lvl1pPr>
              <a:defRPr>
                <a:solidFill>
                  <a:schemeClr val="bg1">
                    <a:lumMod val="50000"/>
                    <a:lumOff val="50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0821483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-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ek 3" descr="Obsah obrázku hák, design&#10;&#10;Popis byl vytvořen automaticky">
            <a:extLst>
              <a:ext uri="{FF2B5EF4-FFF2-40B4-BE49-F238E27FC236}">
                <a16:creationId xmlns:a16="http://schemas.microsoft.com/office/drawing/2014/main" id="{EBCEBEB8-B201-5BCB-19EE-FD429F589D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Nadpis 1">
            <a:extLst>
              <a:ext uri="{FF2B5EF4-FFF2-40B4-BE49-F238E27FC236}">
                <a16:creationId xmlns:a16="http://schemas.microsoft.com/office/drawing/2014/main" id="{A59116E4-6F6A-4236-B205-7EBF81DEDD7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3778" y="2395649"/>
            <a:ext cx="5262222" cy="1944084"/>
          </a:xfrm>
        </p:spPr>
        <p:txBody>
          <a:bodyPr anchor="ctr">
            <a:normAutofit/>
          </a:bodyPr>
          <a:lstStyle>
            <a:lvl1pPr algn="l">
              <a:defRPr sz="4800">
                <a:solidFill>
                  <a:schemeClr val="bg1"/>
                </a:solidFill>
                <a:latin typeface="Prometo XBold" panose="020B0804030203060203" pitchFamily="34" charset="0"/>
              </a:defRPr>
            </a:lvl1pPr>
          </a:lstStyle>
          <a:p>
            <a:r>
              <a:rPr lang="en-US"/>
              <a:t>Thank You Note</a:t>
            </a:r>
            <a:endParaRPr lang="cs-CZ"/>
          </a:p>
        </p:txBody>
      </p:sp>
      <p:sp>
        <p:nvSpPr>
          <p:cNvPr id="15" name="Zástupný text 9">
            <a:extLst>
              <a:ext uri="{FF2B5EF4-FFF2-40B4-BE49-F238E27FC236}">
                <a16:creationId xmlns:a16="http://schemas.microsoft.com/office/drawing/2014/main" id="{C5ACBB49-9197-4A51-833A-05D4390975D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48067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en-US"/>
              <a:t>Twitter</a:t>
            </a:r>
            <a:endParaRPr lang="cs-CZ"/>
          </a:p>
        </p:txBody>
      </p:sp>
      <p:sp>
        <p:nvSpPr>
          <p:cNvPr id="17" name="Zástupný text 9">
            <a:extLst>
              <a:ext uri="{FF2B5EF4-FFF2-40B4-BE49-F238E27FC236}">
                <a16:creationId xmlns:a16="http://schemas.microsoft.com/office/drawing/2014/main" id="{5ED8E78F-D232-5BA9-44BC-3D0F2CFCE0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43276" y="5176287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LinkedIn</a:t>
            </a:r>
          </a:p>
        </p:txBody>
      </p:sp>
      <p:pic>
        <p:nvPicPr>
          <p:cNvPr id="12" name="Grafický objekt 11">
            <a:extLst>
              <a:ext uri="{FF2B5EF4-FFF2-40B4-BE49-F238E27FC236}">
                <a16:creationId xmlns:a16="http://schemas.microsoft.com/office/drawing/2014/main" id="{790CE6FB-A745-D4BA-D849-533C6217263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4626" y="5236560"/>
            <a:ext cx="362056" cy="362054"/>
          </a:xfrm>
          <a:prstGeom prst="rect">
            <a:avLst/>
          </a:prstGeom>
        </p:spPr>
      </p:pic>
      <p:pic>
        <p:nvPicPr>
          <p:cNvPr id="18" name="Grafický objekt 17">
            <a:extLst>
              <a:ext uri="{FF2B5EF4-FFF2-40B4-BE49-F238E27FC236}">
                <a16:creationId xmlns:a16="http://schemas.microsoft.com/office/drawing/2014/main" id="{05C0BE42-599B-AB7A-E0A5-0CD07FF6F9C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9153" y="5235877"/>
            <a:ext cx="363420" cy="363418"/>
          </a:xfrm>
          <a:prstGeom prst="rect">
            <a:avLst/>
          </a:prstGeom>
        </p:spPr>
      </p:pic>
      <p:pic>
        <p:nvPicPr>
          <p:cNvPr id="8" name="Grafický objekt 7">
            <a:extLst>
              <a:ext uri="{FF2B5EF4-FFF2-40B4-BE49-F238E27FC236}">
                <a16:creationId xmlns:a16="http://schemas.microsoft.com/office/drawing/2014/main" id="{59867425-5C2E-6DA4-BF49-9A191509894E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75066" y="5235876"/>
            <a:ext cx="363419" cy="363419"/>
          </a:xfrm>
          <a:prstGeom prst="rect">
            <a:avLst/>
          </a:prstGeom>
        </p:spPr>
      </p:pic>
      <p:sp>
        <p:nvSpPr>
          <p:cNvPr id="9" name="Zástupný text 9">
            <a:extLst>
              <a:ext uri="{FF2B5EF4-FFF2-40B4-BE49-F238E27FC236}">
                <a16:creationId xmlns:a16="http://schemas.microsoft.com/office/drawing/2014/main" id="{D2C4FB82-A708-2912-24CA-39442AAD051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09188" y="5175606"/>
            <a:ext cx="1844212" cy="493713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  <a:latin typeface="Raleway Light" pitchFamily="2" charset="0"/>
              </a:defRPr>
            </a:lvl1pPr>
          </a:lstStyle>
          <a:p>
            <a:pPr lvl="0"/>
            <a:r>
              <a:rPr lang="cs-CZ"/>
              <a:t>GitHub</a:t>
            </a:r>
          </a:p>
        </p:txBody>
      </p:sp>
      <p:sp>
        <p:nvSpPr>
          <p:cNvPr id="13" name="Zástupný symbol pro datum 1">
            <a:extLst>
              <a:ext uri="{FF2B5EF4-FFF2-40B4-BE49-F238E27FC236}">
                <a16:creationId xmlns:a16="http://schemas.microsoft.com/office/drawing/2014/main" id="{4CCABEB8-5B52-8766-B138-BF0F6FCB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08050" y="6197600"/>
            <a:ext cx="2743200" cy="365125"/>
          </a:xfrm>
        </p:spPr>
        <p:txBody>
          <a:bodyPr/>
          <a:lstStyle/>
          <a:p>
            <a:fld id="{92357268-C79A-4225-9F2D-63360B661E37}" type="datetimeFigureOut">
              <a:rPr lang="cs-CZ" smtClean="0"/>
              <a:t>14.11.2025</a:t>
            </a:fld>
            <a:endParaRPr lang="cs-CZ"/>
          </a:p>
        </p:txBody>
      </p:sp>
      <p:sp>
        <p:nvSpPr>
          <p:cNvPr id="14" name="Zástupný symbol pro zápatí 2">
            <a:extLst>
              <a:ext uri="{FF2B5EF4-FFF2-40B4-BE49-F238E27FC236}">
                <a16:creationId xmlns:a16="http://schemas.microsoft.com/office/drawing/2014/main" id="{1CFE454B-8562-9B8B-F82C-F6924FC1D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08450" y="6197600"/>
            <a:ext cx="4114800" cy="365125"/>
          </a:xfrm>
        </p:spPr>
        <p:txBody>
          <a:bodyPr/>
          <a:lstStyle/>
          <a:p>
            <a:endParaRPr lang="cs-CZ"/>
          </a:p>
        </p:txBody>
      </p:sp>
      <p:pic>
        <p:nvPicPr>
          <p:cNvPr id="3" name="Obrázek 2" descr="Obsah obrázku Písmo, text, Grafika, logo&#10;&#10;Obsah generovaný pomocí AI může být nesprávný.">
            <a:extLst>
              <a:ext uri="{FF2B5EF4-FFF2-40B4-BE49-F238E27FC236}">
                <a16:creationId xmlns:a16="http://schemas.microsoft.com/office/drawing/2014/main" id="{08E4BBC5-0139-B475-AFBA-D9D67F18FC4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88" y="961323"/>
            <a:ext cx="3183742" cy="59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9565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3886200"/>
            <a:ext cx="12192000" cy="2971800"/>
          </a:xfrm>
          <a:prstGeom prst="rect">
            <a:avLst/>
          </a:prstGeom>
          <a:gradFill flip="none" rotWithShape="1">
            <a:gsLst>
              <a:gs pos="100000">
                <a:schemeClr val="bg1">
                  <a:lumMod val="65000"/>
                  <a:alpha val="53000"/>
                </a:schemeClr>
              </a:gs>
              <a:gs pos="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36" tIns="45719" rIns="91436" bIns="45719" rtlCol="0" anchor="ctr"/>
          <a:lstStyle/>
          <a:p>
            <a:pPr algn="ctr"/>
            <a:endParaRPr lang="en-US" sz="1800">
              <a:solidFill>
                <a:prstClr val="white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3887117"/>
            <a:ext cx="10363200" cy="610820"/>
          </a:xfrm>
        </p:spPr>
        <p:txBody>
          <a:bodyPr/>
          <a:lstStyle>
            <a:lvl1pPr algn="ctr">
              <a:defRPr lang="en-US" sz="40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99020"/>
            <a:ext cx="8534401" cy="764440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12511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1" y="2130427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1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74455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758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2"/>
            <a:ext cx="10363200" cy="1362075"/>
          </a:xfrm>
        </p:spPr>
        <p:txBody>
          <a:bodyPr anchor="t"/>
          <a:lstStyle>
            <a:lvl1pPr algn="l">
              <a:defRPr sz="53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72027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2"/>
            <a:ext cx="5384800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2"/>
            <a:ext cx="5384800" cy="4525963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70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7514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4"/>
            <a:ext cx="5386917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4"/>
            <a:ext cx="5389033" cy="639763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17512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87688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bg>
      <p:bgPr>
        <a:solidFill>
          <a:srgbClr val="2896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258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1202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Title Only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39805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5_Title Only"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25926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4_Title Only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871303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59843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1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4300"/>
            </a:lvl1pPr>
            <a:lvl2pPr>
              <a:defRPr sz="3700"/>
            </a:lvl2pPr>
            <a:lvl3pPr>
              <a:defRPr sz="3200"/>
            </a:lvl3pPr>
            <a:lvl4pPr>
              <a:defRPr sz="2700"/>
            </a:lvl4pPr>
            <a:lvl5pPr>
              <a:defRPr sz="2700"/>
            </a:lvl5pPr>
            <a:lvl6pPr>
              <a:defRPr sz="2700"/>
            </a:lvl6pPr>
            <a:lvl7pPr>
              <a:defRPr sz="2700"/>
            </a:lvl7pPr>
            <a:lvl8pPr>
              <a:defRPr sz="2700"/>
            </a:lvl8pPr>
            <a:lvl9pPr>
              <a:defRPr sz="2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55733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8" y="4800601"/>
            <a:ext cx="7315200" cy="566739"/>
          </a:xfrm>
        </p:spPr>
        <p:txBody>
          <a:bodyPr anchor="b"/>
          <a:lstStyle>
            <a:lvl1pPr algn="l">
              <a:defRPr sz="27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8" y="612775"/>
            <a:ext cx="7315200" cy="4114800"/>
          </a:xfrm>
        </p:spPr>
        <p:txBody>
          <a:bodyPr/>
          <a:lstStyle>
            <a:lvl1pPr marL="0" indent="0">
              <a:buNone/>
              <a:defRPr sz="43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8" y="5367339"/>
            <a:ext cx="7315200" cy="804863"/>
          </a:xfrm>
        </p:spPr>
        <p:txBody>
          <a:bodyPr/>
          <a:lstStyle>
            <a:lvl1pPr marL="0" indent="0">
              <a:buNone/>
              <a:defRPr sz="19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61334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45665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9480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891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40.xml"/><Relationship Id="rId1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9.xml"/><Relationship Id="rId17" Type="http://schemas.openxmlformats.org/officeDocument/2006/relationships/slideLayout" Target="../slideLayouts/slideLayout44.xml"/><Relationship Id="rId2" Type="http://schemas.openxmlformats.org/officeDocument/2006/relationships/slideLayout" Target="../slideLayouts/slideLayout29.xml"/><Relationship Id="rId16" Type="http://schemas.openxmlformats.org/officeDocument/2006/relationships/slideLayout" Target="../slideLayouts/slideLayout43.xml"/><Relationship Id="rId1" Type="http://schemas.openxmlformats.org/officeDocument/2006/relationships/slideLayout" Target="../slideLayouts/slideLayout28.xml"/><Relationship Id="rId6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2.xml"/><Relationship Id="rId1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37.xml"/><Relationship Id="rId19" Type="http://schemas.openxmlformats.org/officeDocument/2006/relationships/theme" Target="../theme/theme3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17D532-FC0D-41EC-B628-8C01AC91F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B2E9A-B7FB-40DE-A5FC-06F9E4E5C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BE8345-659A-4C74-A006-F326E35CE5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28277-8844-4E5E-92A8-FCE82D200765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40487-5D0B-4142-ABD0-84064E2E1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0E3B8-019E-44AD-8AC4-C2A9675A47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3EE24A-3D7B-4903-B98E-DA4F30F567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1018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10E2DF56-F67D-41BD-94A3-E33203F92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D71FEF04-0566-4B53-B06C-C50200C785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4497E9F2-0FFD-493C-93E1-79BC3BB410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508AB-210D-4B6F-AE53-C36D4FCB8D3D}" type="datetime1">
              <a:rPr lang="cs-CZ" smtClean="0"/>
              <a:t>14.11.2025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946ADE25-0354-4CE9-860B-FA825775C6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65002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DAD00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DAD0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81000">
              <a:srgbClr val="EEEEEE"/>
            </a:gs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034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8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Nadpis 14">
            <a:extLst>
              <a:ext uri="{FF2B5EF4-FFF2-40B4-BE49-F238E27FC236}">
                <a16:creationId xmlns:a16="http://schemas.microsoft.com/office/drawing/2014/main" id="{E390D7A5-0B4D-9FA2-299F-55B8ED8D6D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>
                <a:latin typeface="Aptos Black "/>
              </a:rPr>
              <a:t>Behind the LINQ</a:t>
            </a:r>
          </a:p>
        </p:txBody>
      </p:sp>
      <p:sp>
        <p:nvSpPr>
          <p:cNvPr id="16" name="Zástupný text 15">
            <a:extLst>
              <a:ext uri="{FF2B5EF4-FFF2-40B4-BE49-F238E27FC236}">
                <a16:creationId xmlns:a16="http://schemas.microsoft.com/office/drawing/2014/main" id="{EAC5759F-4655-07F9-56AA-7867A39DB3C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>
                <a:latin typeface="Aptos Light (Body)"/>
              </a:rPr>
              <a:t>Senior Architect, Real Time Technologies</a:t>
            </a:r>
            <a:endParaRPr lang="cs-CZ" dirty="0">
              <a:latin typeface="Aptos Light (Body)"/>
            </a:endParaRPr>
          </a:p>
        </p:txBody>
      </p:sp>
      <p:sp>
        <p:nvSpPr>
          <p:cNvPr id="17" name="Zástupný text 16">
            <a:extLst>
              <a:ext uri="{FF2B5EF4-FFF2-40B4-BE49-F238E27FC236}">
                <a16:creationId xmlns:a16="http://schemas.microsoft.com/office/drawing/2014/main" id="{1C98B004-3A98-773F-6A8B-7B23E8E6E82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00" y="3201714"/>
            <a:ext cx="5959207" cy="1015060"/>
          </a:xfrm>
        </p:spPr>
        <p:txBody>
          <a:bodyPr>
            <a:normAutofit/>
          </a:bodyPr>
          <a:lstStyle/>
          <a:p>
            <a:r>
              <a:rPr lang="en-US" dirty="0">
                <a:latin typeface="Aptos Light (Body)"/>
              </a:rPr>
              <a:t>Diagnosing What EF Core Is Really Doing to Your Database</a:t>
            </a:r>
          </a:p>
        </p:txBody>
      </p:sp>
      <p:sp>
        <p:nvSpPr>
          <p:cNvPr id="19" name="Zástupný text 18">
            <a:extLst>
              <a:ext uri="{FF2B5EF4-FFF2-40B4-BE49-F238E27FC236}">
                <a16:creationId xmlns:a16="http://schemas.microsoft.com/office/drawing/2014/main" id="{531531D6-3522-A791-B991-335662165F3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latin typeface="Aptos Black "/>
              </a:rPr>
              <a:t>Chris Woody Woodruff</a:t>
            </a:r>
            <a:endParaRPr lang="cs-CZ" dirty="0">
              <a:latin typeface="Aptos Black "/>
            </a:endParaRPr>
          </a:p>
        </p:txBody>
      </p:sp>
    </p:spTree>
    <p:extLst>
      <p:ext uri="{BB962C8B-B14F-4D97-AF65-F5344CB8AC3E}">
        <p14:creationId xmlns:p14="http://schemas.microsoft.com/office/powerpoint/2010/main" val="2743714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E0DC-F802-4C73-9130-2834FC652D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40080" y="640080"/>
            <a:ext cx="2752354" cy="2709275"/>
          </a:xfrm>
          <a:prstGeom prst="ellipse">
            <a:avLst/>
          </a:prstGeom>
          <a:solidFill>
            <a:srgbClr val="FFFFFF"/>
          </a:solidFill>
          <a:ln w="174625" cmpd="thinThick">
            <a:solidFill>
              <a:srgbClr val="FFFFFF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400" dirty="0">
                <a:solidFill>
                  <a:srgbClr val="262626"/>
                </a:solidFill>
                <a:latin typeface="Aptos Black "/>
              </a:rPr>
              <a:t>Story</a:t>
            </a:r>
          </a:p>
        </p:txBody>
      </p:sp>
    </p:spTree>
    <p:extLst>
      <p:ext uri="{BB962C8B-B14F-4D97-AF65-F5344CB8AC3E}">
        <p14:creationId xmlns:p14="http://schemas.microsoft.com/office/powerpoint/2010/main" val="3789181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CC65473-F2AD-4018-BFAE-723AFDE2D8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64" b="15464"/>
          <a:stretch/>
        </p:blipFill>
        <p:spPr>
          <a:xfrm>
            <a:off x="34890" y="0"/>
            <a:ext cx="9928869" cy="6858000"/>
          </a:xfrm>
          <a:prstGeom prst="rect">
            <a:avLst/>
          </a:prstGeom>
        </p:spPr>
      </p:pic>
      <p:sp>
        <p:nvSpPr>
          <p:cNvPr id="25" name="Speech Bubble: Rectangle 24">
            <a:extLst>
              <a:ext uri="{FF2B5EF4-FFF2-40B4-BE49-F238E27FC236}">
                <a16:creationId xmlns:a16="http://schemas.microsoft.com/office/drawing/2014/main" id="{B9747794-CF4D-4CA7-BA69-EC86A5F18F39}"/>
              </a:ext>
            </a:extLst>
          </p:cNvPr>
          <p:cNvSpPr/>
          <p:nvPr/>
        </p:nvSpPr>
        <p:spPr>
          <a:xfrm>
            <a:off x="6993145" y="153560"/>
            <a:ext cx="3694733" cy="1902228"/>
          </a:xfrm>
          <a:prstGeom prst="wedgeRectCallout">
            <a:avLst>
              <a:gd name="adj1" fmla="val -42144"/>
              <a:gd name="adj2" fmla="val 75819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latin typeface="Aptos Black "/>
              </a:rPr>
              <a:t>Hello</a:t>
            </a:r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769C9169-4028-47C5-BF36-9581DDEAD66E}"/>
              </a:ext>
            </a:extLst>
          </p:cNvPr>
          <p:cNvSpPr/>
          <p:nvPr/>
        </p:nvSpPr>
        <p:spPr>
          <a:xfrm>
            <a:off x="7848280" y="4018593"/>
            <a:ext cx="4043516" cy="1902228"/>
          </a:xfrm>
          <a:prstGeom prst="wedgeRectCallout">
            <a:avLst>
              <a:gd name="adj1" fmla="val -73080"/>
              <a:gd name="adj2" fmla="val -44133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Chris Woody Woodruff</a:t>
            </a:r>
          </a:p>
        </p:txBody>
      </p:sp>
    </p:spTree>
    <p:extLst>
      <p:ext uri="{BB962C8B-B14F-4D97-AF65-F5344CB8AC3E}">
        <p14:creationId xmlns:p14="http://schemas.microsoft.com/office/powerpoint/2010/main" val="3381771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6B332A4-D438-4773-A77F-5ED49A448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53768" y="0"/>
            <a:ext cx="8284464" cy="6858000"/>
          </a:xfrm>
          <a:custGeom>
            <a:avLst/>
            <a:gdLst>
              <a:gd name="connsiteX0" fmla="*/ 1818109 w 8284464"/>
              <a:gd name="connsiteY0" fmla="*/ 0 h 6858000"/>
              <a:gd name="connsiteX1" fmla="*/ 6466355 w 8284464"/>
              <a:gd name="connsiteY1" fmla="*/ 0 h 6858000"/>
              <a:gd name="connsiteX2" fmla="*/ 6620596 w 8284464"/>
              <a:gd name="connsiteY2" fmla="*/ 109683 h 6858000"/>
              <a:gd name="connsiteX3" fmla="*/ 8284464 w 8284464"/>
              <a:gd name="connsiteY3" fmla="*/ 3429000 h 6858000"/>
              <a:gd name="connsiteX4" fmla="*/ 6620596 w 8284464"/>
              <a:gd name="connsiteY4" fmla="*/ 6748318 h 6858000"/>
              <a:gd name="connsiteX5" fmla="*/ 6466355 w 8284464"/>
              <a:gd name="connsiteY5" fmla="*/ 6858000 h 6858000"/>
              <a:gd name="connsiteX6" fmla="*/ 1818109 w 8284464"/>
              <a:gd name="connsiteY6" fmla="*/ 6858000 h 6858000"/>
              <a:gd name="connsiteX7" fmla="*/ 1663869 w 8284464"/>
              <a:gd name="connsiteY7" fmla="*/ 6748318 h 6858000"/>
              <a:gd name="connsiteX8" fmla="*/ 0 w 8284464"/>
              <a:gd name="connsiteY8" fmla="*/ 3429000 h 6858000"/>
              <a:gd name="connsiteX9" fmla="*/ 1663869 w 8284464"/>
              <a:gd name="connsiteY9" fmla="*/ 10968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284464" h="6858000">
                <a:moveTo>
                  <a:pt x="1818109" y="0"/>
                </a:moveTo>
                <a:lnTo>
                  <a:pt x="6466355" y="0"/>
                </a:lnTo>
                <a:lnTo>
                  <a:pt x="6620596" y="109683"/>
                </a:lnTo>
                <a:cubicBezTo>
                  <a:pt x="7630666" y="865069"/>
                  <a:pt x="8284464" y="2070683"/>
                  <a:pt x="8284464" y="3429000"/>
                </a:cubicBezTo>
                <a:cubicBezTo>
                  <a:pt x="8284464" y="4787317"/>
                  <a:pt x="7630666" y="5992931"/>
                  <a:pt x="6620596" y="6748318"/>
                </a:cubicBezTo>
                <a:lnTo>
                  <a:pt x="6466355" y="6858000"/>
                </a:lnTo>
                <a:lnTo>
                  <a:pt x="1818109" y="6858000"/>
                </a:lnTo>
                <a:lnTo>
                  <a:pt x="1663869" y="6748318"/>
                </a:lnTo>
                <a:cubicBezTo>
                  <a:pt x="653798" y="5992931"/>
                  <a:pt x="0" y="4787317"/>
                  <a:pt x="0" y="3429000"/>
                </a:cubicBezTo>
                <a:cubicBezTo>
                  <a:pt x="0" y="2070683"/>
                  <a:pt x="653798" y="865069"/>
                  <a:pt x="1663869" y="109683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F9AD32D-FF05-44F4-BD4D-9CEE89B71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18360" y="0"/>
            <a:ext cx="7955280" cy="6858000"/>
          </a:xfrm>
          <a:custGeom>
            <a:avLst/>
            <a:gdLst>
              <a:gd name="connsiteX0" fmla="*/ 1962423 w 7955280"/>
              <a:gd name="connsiteY0" fmla="*/ 0 h 6858000"/>
              <a:gd name="connsiteX1" fmla="*/ 5992858 w 7955280"/>
              <a:gd name="connsiteY1" fmla="*/ 0 h 6858000"/>
              <a:gd name="connsiteX2" fmla="*/ 6040191 w 7955280"/>
              <a:gd name="connsiteY2" fmla="*/ 27216 h 6858000"/>
              <a:gd name="connsiteX3" fmla="*/ 7955280 w 7955280"/>
              <a:gd name="connsiteY3" fmla="*/ 3429000 h 6858000"/>
              <a:gd name="connsiteX4" fmla="*/ 6040191 w 7955280"/>
              <a:gd name="connsiteY4" fmla="*/ 6830784 h 6858000"/>
              <a:gd name="connsiteX5" fmla="*/ 5992858 w 7955280"/>
              <a:gd name="connsiteY5" fmla="*/ 6858000 h 6858000"/>
              <a:gd name="connsiteX6" fmla="*/ 1962423 w 7955280"/>
              <a:gd name="connsiteY6" fmla="*/ 6858000 h 6858000"/>
              <a:gd name="connsiteX7" fmla="*/ 1915089 w 7955280"/>
              <a:gd name="connsiteY7" fmla="*/ 6830784 h 6858000"/>
              <a:gd name="connsiteX8" fmla="*/ 0 w 7955280"/>
              <a:gd name="connsiteY8" fmla="*/ 3429000 h 6858000"/>
              <a:gd name="connsiteX9" fmla="*/ 1915089 w 7955280"/>
              <a:gd name="connsiteY9" fmla="*/ 272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55280" h="6858000">
                <a:moveTo>
                  <a:pt x="1962423" y="0"/>
                </a:moveTo>
                <a:lnTo>
                  <a:pt x="5992858" y="0"/>
                </a:lnTo>
                <a:lnTo>
                  <a:pt x="6040191" y="27216"/>
                </a:lnTo>
                <a:cubicBezTo>
                  <a:pt x="7188332" y="724844"/>
                  <a:pt x="7955280" y="1987357"/>
                  <a:pt x="7955280" y="3429000"/>
                </a:cubicBezTo>
                <a:cubicBezTo>
                  <a:pt x="7955280" y="4870644"/>
                  <a:pt x="7188332" y="6133157"/>
                  <a:pt x="6040191" y="6830784"/>
                </a:cubicBezTo>
                <a:lnTo>
                  <a:pt x="5992858" y="6858000"/>
                </a:lnTo>
                <a:lnTo>
                  <a:pt x="1962423" y="6858000"/>
                </a:lnTo>
                <a:lnTo>
                  <a:pt x="1915089" y="6830784"/>
                </a:lnTo>
                <a:cubicBezTo>
                  <a:pt x="766948" y="6133157"/>
                  <a:pt x="0" y="4870644"/>
                  <a:pt x="0" y="3429000"/>
                </a:cubicBezTo>
                <a:cubicBezTo>
                  <a:pt x="0" y="1987357"/>
                  <a:pt x="766948" y="724844"/>
                  <a:pt x="1915089" y="2721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F6B666-8D5B-4031-8BF5-99E2C4A67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5631" y="1441938"/>
            <a:ext cx="7080738" cy="3974124"/>
          </a:xfrm>
        </p:spPr>
        <p:txBody>
          <a:bodyPr>
            <a:normAutofit/>
          </a:bodyPr>
          <a:lstStyle/>
          <a:p>
            <a:pPr algn="ctr"/>
            <a:r>
              <a:rPr lang="en-US" sz="7200" dirty="0">
                <a:solidFill>
                  <a:schemeClr val="bg1">
                    <a:lumMod val="95000"/>
                    <a:lumOff val="5000"/>
                  </a:schemeClr>
                </a:solidFill>
                <a:latin typeface="Aptos Black "/>
              </a:rPr>
              <a:t>I am not a dba!</a:t>
            </a:r>
          </a:p>
        </p:txBody>
      </p:sp>
    </p:spTree>
    <p:extLst>
      <p:ext uri="{BB962C8B-B14F-4D97-AF65-F5344CB8AC3E}">
        <p14:creationId xmlns:p14="http://schemas.microsoft.com/office/powerpoint/2010/main" val="1212665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www.itdegreesandprograms.com/sites/all/files/public/database-administrator.jpg">
            <a:extLst>
              <a:ext uri="{FF2B5EF4-FFF2-40B4-BE49-F238E27FC236}">
                <a16:creationId xmlns:a16="http://schemas.microsoft.com/office/drawing/2014/main" id="{561C9CCB-09D8-4C1E-9D82-9D23A099F6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5" name="Down Arrow 7">
            <a:extLst>
              <a:ext uri="{FF2B5EF4-FFF2-40B4-BE49-F238E27FC236}">
                <a16:creationId xmlns:a16="http://schemas.microsoft.com/office/drawing/2014/main" id="{B547373F-AF2E-4907-B442-9F902B387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0100" y="-4763"/>
            <a:ext cx="3333749" cy="3338514"/>
          </a:xfrm>
          <a:prstGeom prst="downArrow">
            <a:avLst>
              <a:gd name="adj1" fmla="val 100000"/>
              <a:gd name="adj2" fmla="val 26890"/>
            </a:avLst>
          </a:prstGeom>
          <a:solidFill>
            <a:schemeClr val="tx1">
              <a:lumMod val="85000"/>
              <a:lumOff val="15000"/>
            </a:schemeClr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F1BC1A1-7DC6-44DB-9D78-EC788044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0501"/>
            <a:ext cx="2886075" cy="2486024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ptos Black "/>
              </a:rPr>
              <a:t>We are not going to attack DBAs here! </a:t>
            </a:r>
          </a:p>
        </p:txBody>
      </p:sp>
    </p:spTree>
    <p:extLst>
      <p:ext uri="{BB962C8B-B14F-4D97-AF65-F5344CB8AC3E}">
        <p14:creationId xmlns:p14="http://schemas.microsoft.com/office/powerpoint/2010/main" val="41097347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46AEBC-2F26-41B8-964A-B3BC30A84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What we want to solve?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4824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4" name="Rectangle 8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Freeform: Shape 85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11873C-D5B0-4EEC-AC60-E24D5174A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  <a:latin typeface="Aptos Black "/>
              </a:rPr>
              <a:t>Goals for this talk!</a:t>
            </a:r>
          </a:p>
        </p:txBody>
      </p:sp>
      <p:sp>
        <p:nvSpPr>
          <p:cNvPr id="88" name="Arc 8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1071D0-B62B-4CD2-B4D3-2EB6CF792B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7308" y="591344"/>
            <a:ext cx="7482003" cy="5585619"/>
          </a:xfrm>
        </p:spPr>
        <p:txBody>
          <a:bodyPr anchor="ctr">
            <a:normAutofit/>
          </a:bodyPr>
          <a:lstStyle/>
          <a:p>
            <a:r>
              <a:rPr lang="en-US" sz="3600" dirty="0">
                <a:latin typeface="Aptos Light (Body)"/>
              </a:rPr>
              <a:t>Better use of the tools for SQL Server</a:t>
            </a:r>
          </a:p>
          <a:p>
            <a:r>
              <a:rPr lang="en-US" sz="3600" dirty="0">
                <a:latin typeface="Aptos Light (Body)"/>
              </a:rPr>
              <a:t>Better use of Entity Framework Core for performance and happier users</a:t>
            </a:r>
          </a:p>
          <a:p>
            <a:r>
              <a:rPr lang="en-US" sz="3600" dirty="0">
                <a:latin typeface="Aptos Light (Body)"/>
              </a:rPr>
              <a:t>Better relationship with your DBA’s!</a:t>
            </a:r>
          </a:p>
        </p:txBody>
      </p:sp>
    </p:spTree>
    <p:extLst>
      <p:ext uri="{BB962C8B-B14F-4D97-AF65-F5344CB8AC3E}">
        <p14:creationId xmlns:p14="http://schemas.microsoft.com/office/powerpoint/2010/main" val="143132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AF50E-2ADC-E694-C632-FDB2FD75D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C3519-9D1D-3E24-5146-FCB97D97C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Mystery of Slow EF Queries</a:t>
            </a:r>
          </a:p>
        </p:txBody>
      </p:sp>
      <p:grpSp>
        <p:nvGrpSpPr>
          <p:cNvPr id="4" name="Group 7">
            <a:extLst>
              <a:ext uri="{FF2B5EF4-FFF2-40B4-BE49-F238E27FC236}">
                <a16:creationId xmlns:a16="http://schemas.microsoft.com/office/drawing/2014/main" id="{C5C7122D-2618-C488-B959-5EE1F467807A}"/>
              </a:ext>
            </a:extLst>
          </p:cNvPr>
          <p:cNvGrpSpPr/>
          <p:nvPr/>
        </p:nvGrpSpPr>
        <p:grpSpPr>
          <a:xfrm>
            <a:off x="1517923" y="2552859"/>
            <a:ext cx="5278360" cy="3754058"/>
            <a:chOff x="4979010" y="2137708"/>
            <a:chExt cx="2903198" cy="2064802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AFB82288-D4A9-82B7-60CE-27DA410D014B}"/>
                </a:ext>
              </a:extLst>
            </p:cNvPr>
            <p:cNvSpPr/>
            <p:nvPr/>
          </p:nvSpPr>
          <p:spPr>
            <a:xfrm>
              <a:off x="6057611" y="2342293"/>
              <a:ext cx="1824597" cy="1860217"/>
            </a:xfrm>
            <a:custGeom>
              <a:avLst/>
              <a:gdLst>
                <a:gd name="connsiteX0" fmla="*/ 90054 w 2052781"/>
                <a:gd name="connsiteY0" fmla="*/ 1022928 h 1660237"/>
                <a:gd name="connsiteX1" fmla="*/ 1115290 w 2052781"/>
                <a:gd name="connsiteY1" fmla="*/ 39255 h 1660237"/>
                <a:gd name="connsiteX2" fmla="*/ 1877290 w 2052781"/>
                <a:gd name="connsiteY2" fmla="*/ 787400 h 1660237"/>
                <a:gd name="connsiteX3" fmla="*/ 1835727 w 2052781"/>
                <a:gd name="connsiteY3" fmla="*/ 1535546 h 1660237"/>
                <a:gd name="connsiteX4" fmla="*/ 574963 w 2052781"/>
                <a:gd name="connsiteY4" fmla="*/ 1535546 h 1660237"/>
                <a:gd name="connsiteX5" fmla="*/ 90054 w 2052781"/>
                <a:gd name="connsiteY5" fmla="*/ 1022928 h 1660237"/>
                <a:gd name="connsiteX0" fmla="*/ 90054 w 2052781"/>
                <a:gd name="connsiteY0" fmla="*/ 1022928 h 1660237"/>
                <a:gd name="connsiteX1" fmla="*/ 1115290 w 2052781"/>
                <a:gd name="connsiteY1" fmla="*/ 39255 h 1660237"/>
                <a:gd name="connsiteX2" fmla="*/ 1877290 w 2052781"/>
                <a:gd name="connsiteY2" fmla="*/ 787400 h 1660237"/>
                <a:gd name="connsiteX3" fmla="*/ 1835727 w 2052781"/>
                <a:gd name="connsiteY3" fmla="*/ 1535546 h 1660237"/>
                <a:gd name="connsiteX4" fmla="*/ 574963 w 2052781"/>
                <a:gd name="connsiteY4" fmla="*/ 1535546 h 1660237"/>
                <a:gd name="connsiteX5" fmla="*/ 90054 w 2052781"/>
                <a:gd name="connsiteY5" fmla="*/ 1022928 h 1660237"/>
                <a:gd name="connsiteX0" fmla="*/ 0 w 1962727"/>
                <a:gd name="connsiteY0" fmla="*/ 1022928 h 1660237"/>
                <a:gd name="connsiteX1" fmla="*/ 1025236 w 1962727"/>
                <a:gd name="connsiteY1" fmla="*/ 39255 h 1660237"/>
                <a:gd name="connsiteX2" fmla="*/ 1787236 w 1962727"/>
                <a:gd name="connsiteY2" fmla="*/ 787400 h 1660237"/>
                <a:gd name="connsiteX3" fmla="*/ 1745673 w 1962727"/>
                <a:gd name="connsiteY3" fmla="*/ 1535546 h 1660237"/>
                <a:gd name="connsiteX4" fmla="*/ 484909 w 1962727"/>
                <a:gd name="connsiteY4" fmla="*/ 1535546 h 1660237"/>
                <a:gd name="connsiteX5" fmla="*/ 0 w 1962727"/>
                <a:gd name="connsiteY5" fmla="*/ 1022928 h 1660237"/>
                <a:gd name="connsiteX0" fmla="*/ 0 w 1962727"/>
                <a:gd name="connsiteY0" fmla="*/ 983673 h 1620982"/>
                <a:gd name="connsiteX1" fmla="*/ 1025236 w 1962727"/>
                <a:gd name="connsiteY1" fmla="*/ 0 h 1620982"/>
                <a:gd name="connsiteX2" fmla="*/ 1787236 w 1962727"/>
                <a:gd name="connsiteY2" fmla="*/ 748145 h 1620982"/>
                <a:gd name="connsiteX3" fmla="*/ 1745673 w 1962727"/>
                <a:gd name="connsiteY3" fmla="*/ 1496291 h 1620982"/>
                <a:gd name="connsiteX4" fmla="*/ 484909 w 1962727"/>
                <a:gd name="connsiteY4" fmla="*/ 1496291 h 1620982"/>
                <a:gd name="connsiteX5" fmla="*/ 0 w 1962727"/>
                <a:gd name="connsiteY5" fmla="*/ 983673 h 1620982"/>
                <a:gd name="connsiteX0" fmla="*/ 0 w 1787236"/>
                <a:gd name="connsiteY0" fmla="*/ 983673 h 1620982"/>
                <a:gd name="connsiteX1" fmla="*/ 1025236 w 1787236"/>
                <a:gd name="connsiteY1" fmla="*/ 0 h 1620982"/>
                <a:gd name="connsiteX2" fmla="*/ 1787236 w 1787236"/>
                <a:gd name="connsiteY2" fmla="*/ 748145 h 1620982"/>
                <a:gd name="connsiteX3" fmla="*/ 1745673 w 1787236"/>
                <a:gd name="connsiteY3" fmla="*/ 1496291 h 1620982"/>
                <a:gd name="connsiteX4" fmla="*/ 484909 w 1787236"/>
                <a:gd name="connsiteY4" fmla="*/ 1496291 h 1620982"/>
                <a:gd name="connsiteX5" fmla="*/ 0 w 1787236"/>
                <a:gd name="connsiteY5" fmla="*/ 983673 h 1620982"/>
                <a:gd name="connsiteX0" fmla="*/ 0 w 1787236"/>
                <a:gd name="connsiteY0" fmla="*/ 983673 h 1496291"/>
                <a:gd name="connsiteX1" fmla="*/ 1025236 w 1787236"/>
                <a:gd name="connsiteY1" fmla="*/ 0 h 1496291"/>
                <a:gd name="connsiteX2" fmla="*/ 1787236 w 1787236"/>
                <a:gd name="connsiteY2" fmla="*/ 748145 h 1496291"/>
                <a:gd name="connsiteX3" fmla="*/ 1745673 w 1787236"/>
                <a:gd name="connsiteY3" fmla="*/ 1496291 h 1496291"/>
                <a:gd name="connsiteX4" fmla="*/ 484909 w 1787236"/>
                <a:gd name="connsiteY4" fmla="*/ 1496291 h 1496291"/>
                <a:gd name="connsiteX5" fmla="*/ 0 w 1787236"/>
                <a:gd name="connsiteY5" fmla="*/ 983673 h 1496291"/>
                <a:gd name="connsiteX0" fmla="*/ 0 w 1807677"/>
                <a:gd name="connsiteY0" fmla="*/ 1014009 h 1496291"/>
                <a:gd name="connsiteX1" fmla="*/ 1045677 w 1807677"/>
                <a:gd name="connsiteY1" fmla="*/ 0 h 1496291"/>
                <a:gd name="connsiteX2" fmla="*/ 1807677 w 1807677"/>
                <a:gd name="connsiteY2" fmla="*/ 748145 h 1496291"/>
                <a:gd name="connsiteX3" fmla="*/ 1766114 w 1807677"/>
                <a:gd name="connsiteY3" fmla="*/ 1496291 h 1496291"/>
                <a:gd name="connsiteX4" fmla="*/ 505350 w 1807677"/>
                <a:gd name="connsiteY4" fmla="*/ 1496291 h 1496291"/>
                <a:gd name="connsiteX5" fmla="*/ 0 w 1807677"/>
                <a:gd name="connsiteY5" fmla="*/ 1014009 h 1496291"/>
                <a:gd name="connsiteX0" fmla="*/ 0 w 1807677"/>
                <a:gd name="connsiteY0" fmla="*/ 1028816 h 1511098"/>
                <a:gd name="connsiteX1" fmla="*/ 1028847 w 1807677"/>
                <a:gd name="connsiteY1" fmla="*/ 0 h 1511098"/>
                <a:gd name="connsiteX2" fmla="*/ 1807677 w 1807677"/>
                <a:gd name="connsiteY2" fmla="*/ 762952 h 1511098"/>
                <a:gd name="connsiteX3" fmla="*/ 1766114 w 1807677"/>
                <a:gd name="connsiteY3" fmla="*/ 1511098 h 1511098"/>
                <a:gd name="connsiteX4" fmla="*/ 505350 w 1807677"/>
                <a:gd name="connsiteY4" fmla="*/ 1511098 h 1511098"/>
                <a:gd name="connsiteX5" fmla="*/ 0 w 1807677"/>
                <a:gd name="connsiteY5" fmla="*/ 1028816 h 1511098"/>
                <a:gd name="connsiteX0" fmla="*/ 0 w 1807677"/>
                <a:gd name="connsiteY0" fmla="*/ 1034955 h 1517237"/>
                <a:gd name="connsiteX1" fmla="*/ 1051020 w 1807677"/>
                <a:gd name="connsiteY1" fmla="*/ 0 h 1517237"/>
                <a:gd name="connsiteX2" fmla="*/ 1807677 w 1807677"/>
                <a:gd name="connsiteY2" fmla="*/ 769091 h 1517237"/>
                <a:gd name="connsiteX3" fmla="*/ 1766114 w 1807677"/>
                <a:gd name="connsiteY3" fmla="*/ 1517237 h 1517237"/>
                <a:gd name="connsiteX4" fmla="*/ 505350 w 1807677"/>
                <a:gd name="connsiteY4" fmla="*/ 1517237 h 1517237"/>
                <a:gd name="connsiteX5" fmla="*/ 0 w 1807677"/>
                <a:gd name="connsiteY5" fmla="*/ 1034955 h 1517237"/>
                <a:gd name="connsiteX0" fmla="*/ 0 w 1807677"/>
                <a:gd name="connsiteY0" fmla="*/ 1034955 h 1517237"/>
                <a:gd name="connsiteX1" fmla="*/ 1051020 w 1807677"/>
                <a:gd name="connsiteY1" fmla="*/ 0 h 1517237"/>
                <a:gd name="connsiteX2" fmla="*/ 1807677 w 1807677"/>
                <a:gd name="connsiteY2" fmla="*/ 769091 h 1517237"/>
                <a:gd name="connsiteX3" fmla="*/ 1766114 w 1807677"/>
                <a:gd name="connsiteY3" fmla="*/ 1517237 h 1517237"/>
                <a:gd name="connsiteX4" fmla="*/ 0 w 1807677"/>
                <a:gd name="connsiteY4" fmla="*/ 1034955 h 1517237"/>
                <a:gd name="connsiteX0" fmla="*/ 0 w 1807677"/>
                <a:gd name="connsiteY0" fmla="*/ 1034955 h 2065314"/>
                <a:gd name="connsiteX1" fmla="*/ 1051020 w 1807677"/>
                <a:gd name="connsiteY1" fmla="*/ 0 h 2065314"/>
                <a:gd name="connsiteX2" fmla="*/ 1807677 w 1807677"/>
                <a:gd name="connsiteY2" fmla="*/ 769091 h 2065314"/>
                <a:gd name="connsiteX3" fmla="*/ 1216895 w 1807677"/>
                <a:gd name="connsiteY3" fmla="*/ 2065314 h 2065314"/>
                <a:gd name="connsiteX4" fmla="*/ 0 w 1807677"/>
                <a:gd name="connsiteY4" fmla="*/ 1034955 h 2065314"/>
                <a:gd name="connsiteX0" fmla="*/ 0 w 2025766"/>
                <a:gd name="connsiteY0" fmla="*/ 1034955 h 2065314"/>
                <a:gd name="connsiteX1" fmla="*/ 1051020 w 2025766"/>
                <a:gd name="connsiteY1" fmla="*/ 0 h 2065314"/>
                <a:gd name="connsiteX2" fmla="*/ 2025766 w 2025766"/>
                <a:gd name="connsiteY2" fmla="*/ 933514 h 2065314"/>
                <a:gd name="connsiteX3" fmla="*/ 1216895 w 2025766"/>
                <a:gd name="connsiteY3" fmla="*/ 2065314 h 2065314"/>
                <a:gd name="connsiteX4" fmla="*/ 0 w 2025766"/>
                <a:gd name="connsiteY4" fmla="*/ 1034955 h 2065314"/>
                <a:gd name="connsiteX0" fmla="*/ 0 w 2025766"/>
                <a:gd name="connsiteY0" fmla="*/ 1034955 h 2065314"/>
                <a:gd name="connsiteX1" fmla="*/ 657509 w 2025766"/>
                <a:gd name="connsiteY1" fmla="*/ 633761 h 2065314"/>
                <a:gd name="connsiteX2" fmla="*/ 1051020 w 2025766"/>
                <a:gd name="connsiteY2" fmla="*/ 0 h 2065314"/>
                <a:gd name="connsiteX3" fmla="*/ 2025766 w 2025766"/>
                <a:gd name="connsiteY3" fmla="*/ 933514 h 2065314"/>
                <a:gd name="connsiteX4" fmla="*/ 1216895 w 2025766"/>
                <a:gd name="connsiteY4" fmla="*/ 2065314 h 2065314"/>
                <a:gd name="connsiteX5" fmla="*/ 0 w 2025766"/>
                <a:gd name="connsiteY5" fmla="*/ 1034955 h 2065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25766" h="2065314">
                  <a:moveTo>
                    <a:pt x="0" y="1034955"/>
                  </a:moveTo>
                  <a:lnTo>
                    <a:pt x="657509" y="633761"/>
                  </a:lnTo>
                  <a:lnTo>
                    <a:pt x="1051020" y="0"/>
                  </a:lnTo>
                  <a:lnTo>
                    <a:pt x="2025766" y="933514"/>
                  </a:lnTo>
                  <a:lnTo>
                    <a:pt x="1216895" y="2065314"/>
                  </a:lnTo>
                  <a:lnTo>
                    <a:pt x="0" y="1034955"/>
                  </a:lnTo>
                  <a:close/>
                </a:path>
              </a:pathLst>
            </a:custGeom>
            <a:gradFill flip="none" rotWithShape="1">
              <a:gsLst>
                <a:gs pos="46000">
                  <a:srgbClr val="132D4D"/>
                </a:gs>
                <a:gs pos="63000">
                  <a:schemeClr val="tx1">
                    <a:lumMod val="65000"/>
                    <a:lumOff val="35000"/>
                    <a:shade val="67500"/>
                    <a:satMod val="115000"/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8" name="Freeform 2">
              <a:extLst>
                <a:ext uri="{FF2B5EF4-FFF2-40B4-BE49-F238E27FC236}">
                  <a16:creationId xmlns:a16="http://schemas.microsoft.com/office/drawing/2014/main" id="{F66E58B8-B642-E7D0-C886-AB19A1439154}"/>
                </a:ext>
              </a:extLst>
            </p:cNvPr>
            <p:cNvSpPr/>
            <p:nvPr/>
          </p:nvSpPr>
          <p:spPr>
            <a:xfrm>
              <a:off x="5106830" y="2270135"/>
              <a:ext cx="1198559" cy="1224226"/>
            </a:xfrm>
            <a:custGeom>
              <a:avLst/>
              <a:gdLst>
                <a:gd name="connsiteX0" fmla="*/ 90054 w 2052781"/>
                <a:gd name="connsiteY0" fmla="*/ 1022928 h 1660237"/>
                <a:gd name="connsiteX1" fmla="*/ 1115290 w 2052781"/>
                <a:gd name="connsiteY1" fmla="*/ 39255 h 1660237"/>
                <a:gd name="connsiteX2" fmla="*/ 1877290 w 2052781"/>
                <a:gd name="connsiteY2" fmla="*/ 787400 h 1660237"/>
                <a:gd name="connsiteX3" fmla="*/ 1835727 w 2052781"/>
                <a:gd name="connsiteY3" fmla="*/ 1535546 h 1660237"/>
                <a:gd name="connsiteX4" fmla="*/ 574963 w 2052781"/>
                <a:gd name="connsiteY4" fmla="*/ 1535546 h 1660237"/>
                <a:gd name="connsiteX5" fmla="*/ 90054 w 2052781"/>
                <a:gd name="connsiteY5" fmla="*/ 1022928 h 1660237"/>
                <a:gd name="connsiteX0" fmla="*/ 90054 w 2052781"/>
                <a:gd name="connsiteY0" fmla="*/ 1022928 h 1660237"/>
                <a:gd name="connsiteX1" fmla="*/ 1115290 w 2052781"/>
                <a:gd name="connsiteY1" fmla="*/ 39255 h 1660237"/>
                <a:gd name="connsiteX2" fmla="*/ 1877290 w 2052781"/>
                <a:gd name="connsiteY2" fmla="*/ 787400 h 1660237"/>
                <a:gd name="connsiteX3" fmla="*/ 1835727 w 2052781"/>
                <a:gd name="connsiteY3" fmla="*/ 1535546 h 1660237"/>
                <a:gd name="connsiteX4" fmla="*/ 574963 w 2052781"/>
                <a:gd name="connsiteY4" fmla="*/ 1535546 h 1660237"/>
                <a:gd name="connsiteX5" fmla="*/ 90054 w 2052781"/>
                <a:gd name="connsiteY5" fmla="*/ 1022928 h 1660237"/>
                <a:gd name="connsiteX0" fmla="*/ 0 w 1962727"/>
                <a:gd name="connsiteY0" fmla="*/ 1022928 h 1660237"/>
                <a:gd name="connsiteX1" fmla="*/ 1025236 w 1962727"/>
                <a:gd name="connsiteY1" fmla="*/ 39255 h 1660237"/>
                <a:gd name="connsiteX2" fmla="*/ 1787236 w 1962727"/>
                <a:gd name="connsiteY2" fmla="*/ 787400 h 1660237"/>
                <a:gd name="connsiteX3" fmla="*/ 1745673 w 1962727"/>
                <a:gd name="connsiteY3" fmla="*/ 1535546 h 1660237"/>
                <a:gd name="connsiteX4" fmla="*/ 484909 w 1962727"/>
                <a:gd name="connsiteY4" fmla="*/ 1535546 h 1660237"/>
                <a:gd name="connsiteX5" fmla="*/ 0 w 1962727"/>
                <a:gd name="connsiteY5" fmla="*/ 1022928 h 1660237"/>
                <a:gd name="connsiteX0" fmla="*/ 0 w 1962727"/>
                <a:gd name="connsiteY0" fmla="*/ 983673 h 1620982"/>
                <a:gd name="connsiteX1" fmla="*/ 1025236 w 1962727"/>
                <a:gd name="connsiteY1" fmla="*/ 0 h 1620982"/>
                <a:gd name="connsiteX2" fmla="*/ 1787236 w 1962727"/>
                <a:gd name="connsiteY2" fmla="*/ 748145 h 1620982"/>
                <a:gd name="connsiteX3" fmla="*/ 1745673 w 1962727"/>
                <a:gd name="connsiteY3" fmla="*/ 1496291 h 1620982"/>
                <a:gd name="connsiteX4" fmla="*/ 484909 w 1962727"/>
                <a:gd name="connsiteY4" fmla="*/ 1496291 h 1620982"/>
                <a:gd name="connsiteX5" fmla="*/ 0 w 1962727"/>
                <a:gd name="connsiteY5" fmla="*/ 983673 h 1620982"/>
                <a:gd name="connsiteX0" fmla="*/ 0 w 1787236"/>
                <a:gd name="connsiteY0" fmla="*/ 983673 h 1620982"/>
                <a:gd name="connsiteX1" fmla="*/ 1025236 w 1787236"/>
                <a:gd name="connsiteY1" fmla="*/ 0 h 1620982"/>
                <a:gd name="connsiteX2" fmla="*/ 1787236 w 1787236"/>
                <a:gd name="connsiteY2" fmla="*/ 748145 h 1620982"/>
                <a:gd name="connsiteX3" fmla="*/ 1745673 w 1787236"/>
                <a:gd name="connsiteY3" fmla="*/ 1496291 h 1620982"/>
                <a:gd name="connsiteX4" fmla="*/ 484909 w 1787236"/>
                <a:gd name="connsiteY4" fmla="*/ 1496291 h 1620982"/>
                <a:gd name="connsiteX5" fmla="*/ 0 w 1787236"/>
                <a:gd name="connsiteY5" fmla="*/ 983673 h 1620982"/>
                <a:gd name="connsiteX0" fmla="*/ 0 w 1787236"/>
                <a:gd name="connsiteY0" fmla="*/ 983673 h 1496291"/>
                <a:gd name="connsiteX1" fmla="*/ 1025236 w 1787236"/>
                <a:gd name="connsiteY1" fmla="*/ 0 h 1496291"/>
                <a:gd name="connsiteX2" fmla="*/ 1787236 w 1787236"/>
                <a:gd name="connsiteY2" fmla="*/ 748145 h 1496291"/>
                <a:gd name="connsiteX3" fmla="*/ 1745673 w 1787236"/>
                <a:gd name="connsiteY3" fmla="*/ 1496291 h 1496291"/>
                <a:gd name="connsiteX4" fmla="*/ 484909 w 1787236"/>
                <a:gd name="connsiteY4" fmla="*/ 1496291 h 1496291"/>
                <a:gd name="connsiteX5" fmla="*/ 0 w 1787236"/>
                <a:gd name="connsiteY5" fmla="*/ 983673 h 1496291"/>
                <a:gd name="connsiteX0" fmla="*/ 0 w 1807677"/>
                <a:gd name="connsiteY0" fmla="*/ 1014009 h 1496291"/>
                <a:gd name="connsiteX1" fmla="*/ 1045677 w 1807677"/>
                <a:gd name="connsiteY1" fmla="*/ 0 h 1496291"/>
                <a:gd name="connsiteX2" fmla="*/ 1807677 w 1807677"/>
                <a:gd name="connsiteY2" fmla="*/ 748145 h 1496291"/>
                <a:gd name="connsiteX3" fmla="*/ 1766114 w 1807677"/>
                <a:gd name="connsiteY3" fmla="*/ 1496291 h 1496291"/>
                <a:gd name="connsiteX4" fmla="*/ 505350 w 1807677"/>
                <a:gd name="connsiteY4" fmla="*/ 1496291 h 1496291"/>
                <a:gd name="connsiteX5" fmla="*/ 0 w 1807677"/>
                <a:gd name="connsiteY5" fmla="*/ 1014009 h 1496291"/>
                <a:gd name="connsiteX0" fmla="*/ 0 w 1807677"/>
                <a:gd name="connsiteY0" fmla="*/ 1028816 h 1511098"/>
                <a:gd name="connsiteX1" fmla="*/ 1028847 w 1807677"/>
                <a:gd name="connsiteY1" fmla="*/ 0 h 1511098"/>
                <a:gd name="connsiteX2" fmla="*/ 1807677 w 1807677"/>
                <a:gd name="connsiteY2" fmla="*/ 762952 h 1511098"/>
                <a:gd name="connsiteX3" fmla="*/ 1766114 w 1807677"/>
                <a:gd name="connsiteY3" fmla="*/ 1511098 h 1511098"/>
                <a:gd name="connsiteX4" fmla="*/ 505350 w 1807677"/>
                <a:gd name="connsiteY4" fmla="*/ 1511098 h 1511098"/>
                <a:gd name="connsiteX5" fmla="*/ 0 w 1807677"/>
                <a:gd name="connsiteY5" fmla="*/ 1028816 h 1511098"/>
                <a:gd name="connsiteX0" fmla="*/ 0 w 1807677"/>
                <a:gd name="connsiteY0" fmla="*/ 1034955 h 1517237"/>
                <a:gd name="connsiteX1" fmla="*/ 1051020 w 1807677"/>
                <a:gd name="connsiteY1" fmla="*/ 0 h 1517237"/>
                <a:gd name="connsiteX2" fmla="*/ 1807677 w 1807677"/>
                <a:gd name="connsiteY2" fmla="*/ 769091 h 1517237"/>
                <a:gd name="connsiteX3" fmla="*/ 1766114 w 1807677"/>
                <a:gd name="connsiteY3" fmla="*/ 1517237 h 1517237"/>
                <a:gd name="connsiteX4" fmla="*/ 505350 w 1807677"/>
                <a:gd name="connsiteY4" fmla="*/ 1517237 h 1517237"/>
                <a:gd name="connsiteX5" fmla="*/ 0 w 1807677"/>
                <a:gd name="connsiteY5" fmla="*/ 1034955 h 1517237"/>
                <a:gd name="connsiteX0" fmla="*/ 0 w 1807677"/>
                <a:gd name="connsiteY0" fmla="*/ 1034955 h 1517237"/>
                <a:gd name="connsiteX1" fmla="*/ 1051020 w 1807677"/>
                <a:gd name="connsiteY1" fmla="*/ 0 h 1517237"/>
                <a:gd name="connsiteX2" fmla="*/ 1807677 w 1807677"/>
                <a:gd name="connsiteY2" fmla="*/ 769091 h 1517237"/>
                <a:gd name="connsiteX3" fmla="*/ 1766114 w 1807677"/>
                <a:gd name="connsiteY3" fmla="*/ 1517237 h 1517237"/>
                <a:gd name="connsiteX4" fmla="*/ 0 w 1807677"/>
                <a:gd name="connsiteY4" fmla="*/ 1034955 h 1517237"/>
                <a:gd name="connsiteX0" fmla="*/ 0 w 1807677"/>
                <a:gd name="connsiteY0" fmla="*/ 1034955 h 1827775"/>
                <a:gd name="connsiteX1" fmla="*/ 1051020 w 1807677"/>
                <a:gd name="connsiteY1" fmla="*/ 0 h 1827775"/>
                <a:gd name="connsiteX2" fmla="*/ 1807677 w 1807677"/>
                <a:gd name="connsiteY2" fmla="*/ 769091 h 1827775"/>
                <a:gd name="connsiteX3" fmla="*/ 1039368 w 1807677"/>
                <a:gd name="connsiteY3" fmla="*/ 1827775 h 1827775"/>
                <a:gd name="connsiteX4" fmla="*/ 0 w 1807677"/>
                <a:gd name="connsiteY4" fmla="*/ 1034955 h 1827775"/>
                <a:gd name="connsiteX0" fmla="*/ 0 w 1807677"/>
                <a:gd name="connsiteY0" fmla="*/ 1034955 h 1846390"/>
                <a:gd name="connsiteX1" fmla="*/ 1051020 w 1807677"/>
                <a:gd name="connsiteY1" fmla="*/ 0 h 1846390"/>
                <a:gd name="connsiteX2" fmla="*/ 1807677 w 1807677"/>
                <a:gd name="connsiteY2" fmla="*/ 769091 h 1846390"/>
                <a:gd name="connsiteX3" fmla="*/ 1039368 w 1807677"/>
                <a:gd name="connsiteY3" fmla="*/ 1827775 h 1846390"/>
                <a:gd name="connsiteX4" fmla="*/ 988049 w 1807677"/>
                <a:gd name="connsiteY4" fmla="*/ 1846390 h 1846390"/>
                <a:gd name="connsiteX5" fmla="*/ 0 w 1807677"/>
                <a:gd name="connsiteY5" fmla="*/ 1034955 h 1846390"/>
                <a:gd name="connsiteX0" fmla="*/ 0 w 1807677"/>
                <a:gd name="connsiteY0" fmla="*/ 1034955 h 1846390"/>
                <a:gd name="connsiteX1" fmla="*/ 762507 w 1807677"/>
                <a:gd name="connsiteY1" fmla="*/ 753268 h 1846390"/>
                <a:gd name="connsiteX2" fmla="*/ 1051020 w 1807677"/>
                <a:gd name="connsiteY2" fmla="*/ 0 h 1846390"/>
                <a:gd name="connsiteX3" fmla="*/ 1807677 w 1807677"/>
                <a:gd name="connsiteY3" fmla="*/ 769091 h 1846390"/>
                <a:gd name="connsiteX4" fmla="*/ 1039368 w 1807677"/>
                <a:gd name="connsiteY4" fmla="*/ 1827775 h 1846390"/>
                <a:gd name="connsiteX5" fmla="*/ 988049 w 1807677"/>
                <a:gd name="connsiteY5" fmla="*/ 1846390 h 1846390"/>
                <a:gd name="connsiteX6" fmla="*/ 0 w 1807677"/>
                <a:gd name="connsiteY6" fmla="*/ 1034955 h 1846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7677" h="1846390">
                  <a:moveTo>
                    <a:pt x="0" y="1034955"/>
                  </a:moveTo>
                  <a:lnTo>
                    <a:pt x="762507" y="753268"/>
                  </a:lnTo>
                  <a:lnTo>
                    <a:pt x="1051020" y="0"/>
                  </a:lnTo>
                  <a:lnTo>
                    <a:pt x="1807677" y="769091"/>
                  </a:lnTo>
                  <a:lnTo>
                    <a:pt x="1039368" y="1827775"/>
                  </a:lnTo>
                  <a:lnTo>
                    <a:pt x="988049" y="1846390"/>
                  </a:lnTo>
                  <a:lnTo>
                    <a:pt x="0" y="1034955"/>
                  </a:lnTo>
                  <a:close/>
                </a:path>
              </a:pathLst>
            </a:custGeom>
            <a:gradFill>
              <a:gsLst>
                <a:gs pos="46000">
                  <a:srgbClr val="0E223A"/>
                </a:gs>
                <a:gs pos="63000">
                  <a:schemeClr val="tx1">
                    <a:lumMod val="65000"/>
                    <a:lumOff val="35000"/>
                    <a:shade val="67500"/>
                    <a:satMod val="115000"/>
                    <a:alpha val="0"/>
                  </a:schemeClr>
                </a:gs>
              </a:gsLst>
              <a:path path="circle">
                <a:fillToRect r="100000" b="100000"/>
              </a:path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9" name="Freeform 125">
              <a:extLst>
                <a:ext uri="{FF2B5EF4-FFF2-40B4-BE49-F238E27FC236}">
                  <a16:creationId xmlns:a16="http://schemas.microsoft.com/office/drawing/2014/main" id="{E98B2C51-0236-3596-57D8-0288C5895BC7}"/>
                </a:ext>
              </a:extLst>
            </p:cNvPr>
            <p:cNvSpPr>
              <a:spLocks noEditPoints="1"/>
            </p:cNvSpPr>
            <p:nvPr/>
          </p:nvSpPr>
          <p:spPr bwMode="auto">
            <a:xfrm rot="674051">
              <a:off x="4979010" y="2137708"/>
              <a:ext cx="966317" cy="966845"/>
            </a:xfrm>
            <a:custGeom>
              <a:avLst/>
              <a:gdLst/>
              <a:ahLst/>
              <a:cxnLst>
                <a:cxn ang="0">
                  <a:pos x="871" y="808"/>
                </a:cxn>
                <a:cxn ang="0">
                  <a:pos x="819" y="851"/>
                </a:cxn>
                <a:cxn ang="0">
                  <a:pos x="799" y="917"/>
                </a:cxn>
                <a:cxn ang="0">
                  <a:pos x="819" y="983"/>
                </a:cxn>
                <a:cxn ang="0">
                  <a:pos x="871" y="1025"/>
                </a:cxn>
                <a:cxn ang="0">
                  <a:pos x="941" y="1032"/>
                </a:cxn>
                <a:cxn ang="0">
                  <a:pos x="1000" y="1000"/>
                </a:cxn>
                <a:cxn ang="0">
                  <a:pos x="1032" y="940"/>
                </a:cxn>
                <a:cxn ang="0">
                  <a:pos x="1025" y="871"/>
                </a:cxn>
                <a:cxn ang="0">
                  <a:pos x="982" y="820"/>
                </a:cxn>
                <a:cxn ang="0">
                  <a:pos x="917" y="799"/>
                </a:cxn>
                <a:cxn ang="0">
                  <a:pos x="900" y="169"/>
                </a:cxn>
                <a:cxn ang="0">
                  <a:pos x="1018" y="176"/>
                </a:cxn>
                <a:cxn ang="0">
                  <a:pos x="1162" y="210"/>
                </a:cxn>
                <a:cxn ang="0">
                  <a:pos x="1292" y="79"/>
                </a:cxn>
                <a:cxn ang="0">
                  <a:pos x="1443" y="165"/>
                </a:cxn>
                <a:cxn ang="0">
                  <a:pos x="1433" y="377"/>
                </a:cxn>
                <a:cxn ang="0">
                  <a:pos x="1535" y="496"/>
                </a:cxn>
                <a:cxn ang="0">
                  <a:pos x="1609" y="635"/>
                </a:cxn>
                <a:cxn ang="0">
                  <a:pos x="1808" y="703"/>
                </a:cxn>
                <a:cxn ang="0">
                  <a:pos x="1833" y="875"/>
                </a:cxn>
                <a:cxn ang="0">
                  <a:pos x="1661" y="978"/>
                </a:cxn>
                <a:cxn ang="0">
                  <a:pos x="1626" y="1153"/>
                </a:cxn>
                <a:cxn ang="0">
                  <a:pos x="1729" y="1344"/>
                </a:cxn>
                <a:cxn ang="0">
                  <a:pos x="1632" y="1491"/>
                </a:cxn>
                <a:cxn ang="0">
                  <a:pos x="1420" y="1470"/>
                </a:cxn>
                <a:cxn ang="0">
                  <a:pos x="1293" y="1563"/>
                </a:cxn>
                <a:cxn ang="0">
                  <a:pos x="1245" y="1775"/>
                </a:cxn>
                <a:cxn ang="0">
                  <a:pos x="1074" y="1821"/>
                </a:cxn>
                <a:cxn ang="0">
                  <a:pos x="935" y="1665"/>
                </a:cxn>
                <a:cxn ang="0">
                  <a:pos x="796" y="1655"/>
                </a:cxn>
                <a:cxn ang="0">
                  <a:pos x="629" y="1607"/>
                </a:cxn>
                <a:cxn ang="0">
                  <a:pos x="441" y="1702"/>
                </a:cxn>
                <a:cxn ang="0">
                  <a:pos x="300" y="1596"/>
                </a:cxn>
                <a:cxn ang="0">
                  <a:pos x="332" y="1382"/>
                </a:cxn>
                <a:cxn ang="0">
                  <a:pos x="247" y="1249"/>
                </a:cxn>
                <a:cxn ang="0">
                  <a:pos x="41" y="1190"/>
                </a:cxn>
                <a:cxn ang="0">
                  <a:pos x="5" y="1018"/>
                </a:cxn>
                <a:cxn ang="0">
                  <a:pos x="170" y="936"/>
                </a:cxn>
                <a:cxn ang="0">
                  <a:pos x="180" y="796"/>
                </a:cxn>
                <a:cxn ang="0">
                  <a:pos x="228" y="627"/>
                </a:cxn>
                <a:cxn ang="0">
                  <a:pos x="104" y="491"/>
                </a:cxn>
                <a:cxn ang="0">
                  <a:pos x="201" y="343"/>
                </a:cxn>
                <a:cxn ang="0">
                  <a:pos x="376" y="401"/>
                </a:cxn>
                <a:cxn ang="0">
                  <a:pos x="496" y="299"/>
                </a:cxn>
                <a:cxn ang="0">
                  <a:pos x="635" y="224"/>
                </a:cxn>
                <a:cxn ang="0">
                  <a:pos x="645" y="40"/>
                </a:cxn>
                <a:cxn ang="0">
                  <a:pos x="818" y="4"/>
                </a:cxn>
              </a:cxnLst>
              <a:rect l="0" t="0" r="r" b="b"/>
              <a:pathLst>
                <a:path w="1833" h="1834">
                  <a:moveTo>
                    <a:pt x="917" y="799"/>
                  </a:moveTo>
                  <a:lnTo>
                    <a:pt x="893" y="802"/>
                  </a:lnTo>
                  <a:lnTo>
                    <a:pt x="871" y="808"/>
                  </a:lnTo>
                  <a:lnTo>
                    <a:pt x="851" y="820"/>
                  </a:lnTo>
                  <a:lnTo>
                    <a:pt x="834" y="833"/>
                  </a:lnTo>
                  <a:lnTo>
                    <a:pt x="819" y="851"/>
                  </a:lnTo>
                  <a:lnTo>
                    <a:pt x="808" y="871"/>
                  </a:lnTo>
                  <a:lnTo>
                    <a:pt x="801" y="893"/>
                  </a:lnTo>
                  <a:lnTo>
                    <a:pt x="799" y="917"/>
                  </a:lnTo>
                  <a:lnTo>
                    <a:pt x="801" y="940"/>
                  </a:lnTo>
                  <a:lnTo>
                    <a:pt x="808" y="962"/>
                  </a:lnTo>
                  <a:lnTo>
                    <a:pt x="819" y="983"/>
                  </a:lnTo>
                  <a:lnTo>
                    <a:pt x="834" y="1000"/>
                  </a:lnTo>
                  <a:lnTo>
                    <a:pt x="851" y="1015"/>
                  </a:lnTo>
                  <a:lnTo>
                    <a:pt x="871" y="1025"/>
                  </a:lnTo>
                  <a:lnTo>
                    <a:pt x="893" y="1032"/>
                  </a:lnTo>
                  <a:lnTo>
                    <a:pt x="917" y="1034"/>
                  </a:lnTo>
                  <a:lnTo>
                    <a:pt x="941" y="1032"/>
                  </a:lnTo>
                  <a:lnTo>
                    <a:pt x="963" y="1025"/>
                  </a:lnTo>
                  <a:lnTo>
                    <a:pt x="982" y="1015"/>
                  </a:lnTo>
                  <a:lnTo>
                    <a:pt x="1000" y="1000"/>
                  </a:lnTo>
                  <a:lnTo>
                    <a:pt x="1014" y="983"/>
                  </a:lnTo>
                  <a:lnTo>
                    <a:pt x="1025" y="962"/>
                  </a:lnTo>
                  <a:lnTo>
                    <a:pt x="1032" y="940"/>
                  </a:lnTo>
                  <a:lnTo>
                    <a:pt x="1034" y="917"/>
                  </a:lnTo>
                  <a:lnTo>
                    <a:pt x="1032" y="893"/>
                  </a:lnTo>
                  <a:lnTo>
                    <a:pt x="1025" y="871"/>
                  </a:lnTo>
                  <a:lnTo>
                    <a:pt x="1014" y="851"/>
                  </a:lnTo>
                  <a:lnTo>
                    <a:pt x="1000" y="833"/>
                  </a:lnTo>
                  <a:lnTo>
                    <a:pt x="982" y="820"/>
                  </a:lnTo>
                  <a:lnTo>
                    <a:pt x="963" y="808"/>
                  </a:lnTo>
                  <a:lnTo>
                    <a:pt x="941" y="802"/>
                  </a:lnTo>
                  <a:lnTo>
                    <a:pt x="917" y="799"/>
                  </a:lnTo>
                  <a:close/>
                  <a:moveTo>
                    <a:pt x="875" y="0"/>
                  </a:moveTo>
                  <a:lnTo>
                    <a:pt x="875" y="0"/>
                  </a:lnTo>
                  <a:lnTo>
                    <a:pt x="900" y="169"/>
                  </a:lnTo>
                  <a:lnTo>
                    <a:pt x="917" y="169"/>
                  </a:lnTo>
                  <a:lnTo>
                    <a:pt x="968" y="171"/>
                  </a:lnTo>
                  <a:lnTo>
                    <a:pt x="1018" y="176"/>
                  </a:lnTo>
                  <a:lnTo>
                    <a:pt x="1067" y="184"/>
                  </a:lnTo>
                  <a:lnTo>
                    <a:pt x="1115" y="195"/>
                  </a:lnTo>
                  <a:lnTo>
                    <a:pt x="1162" y="210"/>
                  </a:lnTo>
                  <a:lnTo>
                    <a:pt x="1207" y="228"/>
                  </a:lnTo>
                  <a:lnTo>
                    <a:pt x="1292" y="80"/>
                  </a:lnTo>
                  <a:lnTo>
                    <a:pt x="1292" y="79"/>
                  </a:lnTo>
                  <a:lnTo>
                    <a:pt x="1344" y="104"/>
                  </a:lnTo>
                  <a:lnTo>
                    <a:pt x="1394" y="133"/>
                  </a:lnTo>
                  <a:lnTo>
                    <a:pt x="1443" y="165"/>
                  </a:lnTo>
                  <a:lnTo>
                    <a:pt x="1491" y="200"/>
                  </a:lnTo>
                  <a:lnTo>
                    <a:pt x="1535" y="239"/>
                  </a:lnTo>
                  <a:lnTo>
                    <a:pt x="1433" y="377"/>
                  </a:lnTo>
                  <a:lnTo>
                    <a:pt x="1469" y="414"/>
                  </a:lnTo>
                  <a:lnTo>
                    <a:pt x="1503" y="454"/>
                  </a:lnTo>
                  <a:lnTo>
                    <a:pt x="1535" y="496"/>
                  </a:lnTo>
                  <a:lnTo>
                    <a:pt x="1562" y="541"/>
                  </a:lnTo>
                  <a:lnTo>
                    <a:pt x="1587" y="587"/>
                  </a:lnTo>
                  <a:lnTo>
                    <a:pt x="1609" y="635"/>
                  </a:lnTo>
                  <a:lnTo>
                    <a:pt x="1774" y="590"/>
                  </a:lnTo>
                  <a:lnTo>
                    <a:pt x="1794" y="647"/>
                  </a:lnTo>
                  <a:lnTo>
                    <a:pt x="1808" y="703"/>
                  </a:lnTo>
                  <a:lnTo>
                    <a:pt x="1821" y="760"/>
                  </a:lnTo>
                  <a:lnTo>
                    <a:pt x="1829" y="817"/>
                  </a:lnTo>
                  <a:lnTo>
                    <a:pt x="1833" y="875"/>
                  </a:lnTo>
                  <a:lnTo>
                    <a:pt x="1663" y="900"/>
                  </a:lnTo>
                  <a:lnTo>
                    <a:pt x="1663" y="917"/>
                  </a:lnTo>
                  <a:lnTo>
                    <a:pt x="1661" y="978"/>
                  </a:lnTo>
                  <a:lnTo>
                    <a:pt x="1654" y="1038"/>
                  </a:lnTo>
                  <a:lnTo>
                    <a:pt x="1642" y="1096"/>
                  </a:lnTo>
                  <a:lnTo>
                    <a:pt x="1626" y="1153"/>
                  </a:lnTo>
                  <a:lnTo>
                    <a:pt x="1605" y="1208"/>
                  </a:lnTo>
                  <a:lnTo>
                    <a:pt x="1754" y="1293"/>
                  </a:lnTo>
                  <a:lnTo>
                    <a:pt x="1729" y="1344"/>
                  </a:lnTo>
                  <a:lnTo>
                    <a:pt x="1700" y="1395"/>
                  </a:lnTo>
                  <a:lnTo>
                    <a:pt x="1668" y="1444"/>
                  </a:lnTo>
                  <a:lnTo>
                    <a:pt x="1632" y="1491"/>
                  </a:lnTo>
                  <a:lnTo>
                    <a:pt x="1594" y="1536"/>
                  </a:lnTo>
                  <a:lnTo>
                    <a:pt x="1457" y="1433"/>
                  </a:lnTo>
                  <a:lnTo>
                    <a:pt x="1420" y="1470"/>
                  </a:lnTo>
                  <a:lnTo>
                    <a:pt x="1380" y="1503"/>
                  </a:lnTo>
                  <a:lnTo>
                    <a:pt x="1338" y="1535"/>
                  </a:lnTo>
                  <a:lnTo>
                    <a:pt x="1293" y="1563"/>
                  </a:lnTo>
                  <a:lnTo>
                    <a:pt x="1247" y="1587"/>
                  </a:lnTo>
                  <a:lnTo>
                    <a:pt x="1199" y="1609"/>
                  </a:lnTo>
                  <a:lnTo>
                    <a:pt x="1245" y="1775"/>
                  </a:lnTo>
                  <a:lnTo>
                    <a:pt x="1188" y="1795"/>
                  </a:lnTo>
                  <a:lnTo>
                    <a:pt x="1132" y="1810"/>
                  </a:lnTo>
                  <a:lnTo>
                    <a:pt x="1074" y="1821"/>
                  </a:lnTo>
                  <a:lnTo>
                    <a:pt x="1017" y="1830"/>
                  </a:lnTo>
                  <a:lnTo>
                    <a:pt x="959" y="1834"/>
                  </a:lnTo>
                  <a:lnTo>
                    <a:pt x="935" y="1665"/>
                  </a:lnTo>
                  <a:lnTo>
                    <a:pt x="917" y="1665"/>
                  </a:lnTo>
                  <a:lnTo>
                    <a:pt x="856" y="1662"/>
                  </a:lnTo>
                  <a:lnTo>
                    <a:pt x="796" y="1655"/>
                  </a:lnTo>
                  <a:lnTo>
                    <a:pt x="739" y="1644"/>
                  </a:lnTo>
                  <a:lnTo>
                    <a:pt x="683" y="1627"/>
                  </a:lnTo>
                  <a:lnTo>
                    <a:pt x="629" y="1607"/>
                  </a:lnTo>
                  <a:lnTo>
                    <a:pt x="544" y="1755"/>
                  </a:lnTo>
                  <a:lnTo>
                    <a:pt x="492" y="1730"/>
                  </a:lnTo>
                  <a:lnTo>
                    <a:pt x="441" y="1702"/>
                  </a:lnTo>
                  <a:lnTo>
                    <a:pt x="392" y="1670"/>
                  </a:lnTo>
                  <a:lnTo>
                    <a:pt x="345" y="1635"/>
                  </a:lnTo>
                  <a:lnTo>
                    <a:pt x="300" y="1596"/>
                  </a:lnTo>
                  <a:lnTo>
                    <a:pt x="402" y="1459"/>
                  </a:lnTo>
                  <a:lnTo>
                    <a:pt x="365" y="1422"/>
                  </a:lnTo>
                  <a:lnTo>
                    <a:pt x="332" y="1382"/>
                  </a:lnTo>
                  <a:lnTo>
                    <a:pt x="300" y="1340"/>
                  </a:lnTo>
                  <a:lnTo>
                    <a:pt x="272" y="1295"/>
                  </a:lnTo>
                  <a:lnTo>
                    <a:pt x="247" y="1249"/>
                  </a:lnTo>
                  <a:lnTo>
                    <a:pt x="225" y="1201"/>
                  </a:lnTo>
                  <a:lnTo>
                    <a:pt x="61" y="1245"/>
                  </a:lnTo>
                  <a:lnTo>
                    <a:pt x="41" y="1190"/>
                  </a:lnTo>
                  <a:lnTo>
                    <a:pt x="26" y="1133"/>
                  </a:lnTo>
                  <a:lnTo>
                    <a:pt x="13" y="1076"/>
                  </a:lnTo>
                  <a:lnTo>
                    <a:pt x="5" y="1018"/>
                  </a:lnTo>
                  <a:lnTo>
                    <a:pt x="0" y="960"/>
                  </a:lnTo>
                  <a:lnTo>
                    <a:pt x="2" y="961"/>
                  </a:lnTo>
                  <a:lnTo>
                    <a:pt x="170" y="936"/>
                  </a:lnTo>
                  <a:lnTo>
                    <a:pt x="170" y="917"/>
                  </a:lnTo>
                  <a:lnTo>
                    <a:pt x="172" y="855"/>
                  </a:lnTo>
                  <a:lnTo>
                    <a:pt x="180" y="796"/>
                  </a:lnTo>
                  <a:lnTo>
                    <a:pt x="191" y="738"/>
                  </a:lnTo>
                  <a:lnTo>
                    <a:pt x="207" y="682"/>
                  </a:lnTo>
                  <a:lnTo>
                    <a:pt x="228" y="627"/>
                  </a:lnTo>
                  <a:lnTo>
                    <a:pt x="80" y="543"/>
                  </a:lnTo>
                  <a:lnTo>
                    <a:pt x="79" y="544"/>
                  </a:lnTo>
                  <a:lnTo>
                    <a:pt x="104" y="491"/>
                  </a:lnTo>
                  <a:lnTo>
                    <a:pt x="133" y="440"/>
                  </a:lnTo>
                  <a:lnTo>
                    <a:pt x="166" y="390"/>
                  </a:lnTo>
                  <a:lnTo>
                    <a:pt x="201" y="343"/>
                  </a:lnTo>
                  <a:lnTo>
                    <a:pt x="240" y="297"/>
                  </a:lnTo>
                  <a:lnTo>
                    <a:pt x="240" y="300"/>
                  </a:lnTo>
                  <a:lnTo>
                    <a:pt x="376" y="401"/>
                  </a:lnTo>
                  <a:lnTo>
                    <a:pt x="413" y="364"/>
                  </a:lnTo>
                  <a:lnTo>
                    <a:pt x="453" y="330"/>
                  </a:lnTo>
                  <a:lnTo>
                    <a:pt x="496" y="299"/>
                  </a:lnTo>
                  <a:lnTo>
                    <a:pt x="540" y="270"/>
                  </a:lnTo>
                  <a:lnTo>
                    <a:pt x="587" y="246"/>
                  </a:lnTo>
                  <a:lnTo>
                    <a:pt x="635" y="224"/>
                  </a:lnTo>
                  <a:lnTo>
                    <a:pt x="590" y="60"/>
                  </a:lnTo>
                  <a:lnTo>
                    <a:pt x="589" y="59"/>
                  </a:lnTo>
                  <a:lnTo>
                    <a:pt x="645" y="40"/>
                  </a:lnTo>
                  <a:lnTo>
                    <a:pt x="702" y="24"/>
                  </a:lnTo>
                  <a:lnTo>
                    <a:pt x="760" y="12"/>
                  </a:lnTo>
                  <a:lnTo>
                    <a:pt x="818" y="4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0" name="Freeform 126">
              <a:extLst>
                <a:ext uri="{FF2B5EF4-FFF2-40B4-BE49-F238E27FC236}">
                  <a16:creationId xmlns:a16="http://schemas.microsoft.com/office/drawing/2014/main" id="{A5CF5C53-EE34-58F5-CC20-0771148F82E8}"/>
                </a:ext>
              </a:extLst>
            </p:cNvPr>
            <p:cNvSpPr>
              <a:spLocks noEditPoints="1"/>
            </p:cNvSpPr>
            <p:nvPr/>
          </p:nvSpPr>
          <p:spPr bwMode="auto">
            <a:xfrm rot="674051">
              <a:off x="5146126" y="2304823"/>
              <a:ext cx="632086" cy="632614"/>
            </a:xfrm>
            <a:custGeom>
              <a:avLst/>
              <a:gdLst/>
              <a:ahLst/>
              <a:cxnLst>
                <a:cxn ang="0">
                  <a:pos x="558" y="392"/>
                </a:cxn>
                <a:cxn ang="0">
                  <a:pos x="505" y="410"/>
                </a:cxn>
                <a:cxn ang="0">
                  <a:pos x="457" y="442"/>
                </a:cxn>
                <a:cxn ang="0">
                  <a:pos x="422" y="485"/>
                </a:cxn>
                <a:cxn ang="0">
                  <a:pos x="398" y="534"/>
                </a:cxn>
                <a:cxn ang="0">
                  <a:pos x="388" y="587"/>
                </a:cxn>
                <a:cxn ang="0">
                  <a:pos x="392" y="642"/>
                </a:cxn>
                <a:cxn ang="0">
                  <a:pos x="410" y="694"/>
                </a:cxn>
                <a:cxn ang="0">
                  <a:pos x="443" y="742"/>
                </a:cxn>
                <a:cxn ang="0">
                  <a:pos x="485" y="778"/>
                </a:cxn>
                <a:cxn ang="0">
                  <a:pos x="534" y="801"/>
                </a:cxn>
                <a:cxn ang="0">
                  <a:pos x="587" y="812"/>
                </a:cxn>
                <a:cxn ang="0">
                  <a:pos x="642" y="808"/>
                </a:cxn>
                <a:cxn ang="0">
                  <a:pos x="694" y="790"/>
                </a:cxn>
                <a:cxn ang="0">
                  <a:pos x="742" y="757"/>
                </a:cxn>
                <a:cxn ang="0">
                  <a:pos x="778" y="715"/>
                </a:cxn>
                <a:cxn ang="0">
                  <a:pos x="801" y="666"/>
                </a:cxn>
                <a:cxn ang="0">
                  <a:pos x="811" y="612"/>
                </a:cxn>
                <a:cxn ang="0">
                  <a:pos x="808" y="558"/>
                </a:cxn>
                <a:cxn ang="0">
                  <a:pos x="790" y="505"/>
                </a:cxn>
                <a:cxn ang="0">
                  <a:pos x="757" y="458"/>
                </a:cxn>
                <a:cxn ang="0">
                  <a:pos x="715" y="422"/>
                </a:cxn>
                <a:cxn ang="0">
                  <a:pos x="666" y="398"/>
                </a:cxn>
                <a:cxn ang="0">
                  <a:pos x="612" y="388"/>
                </a:cxn>
                <a:cxn ang="0">
                  <a:pos x="590" y="0"/>
                </a:cxn>
                <a:cxn ang="0">
                  <a:pos x="687" y="7"/>
                </a:cxn>
                <a:cxn ang="0">
                  <a:pos x="782" y="28"/>
                </a:cxn>
                <a:cxn ang="0">
                  <a:pos x="871" y="65"/>
                </a:cxn>
                <a:cxn ang="0">
                  <a:pos x="954" y="117"/>
                </a:cxn>
                <a:cxn ang="0">
                  <a:pos x="1030" y="182"/>
                </a:cxn>
                <a:cxn ang="0">
                  <a:pos x="1095" y="262"/>
                </a:cxn>
                <a:cxn ang="0">
                  <a:pos x="1145" y="352"/>
                </a:cxn>
                <a:cxn ang="0">
                  <a:pos x="1178" y="445"/>
                </a:cxn>
                <a:cxn ang="0">
                  <a:pos x="1196" y="543"/>
                </a:cxn>
                <a:cxn ang="0">
                  <a:pos x="1197" y="640"/>
                </a:cxn>
                <a:cxn ang="0">
                  <a:pos x="1183" y="735"/>
                </a:cxn>
                <a:cxn ang="0">
                  <a:pos x="1154" y="828"/>
                </a:cxn>
                <a:cxn ang="0">
                  <a:pos x="1110" y="915"/>
                </a:cxn>
                <a:cxn ang="0">
                  <a:pos x="1051" y="995"/>
                </a:cxn>
                <a:cxn ang="0">
                  <a:pos x="979" y="1065"/>
                </a:cxn>
                <a:cxn ang="0">
                  <a:pos x="893" y="1123"/>
                </a:cxn>
                <a:cxn ang="0">
                  <a:pos x="801" y="1165"/>
                </a:cxn>
                <a:cxn ang="0">
                  <a:pos x="706" y="1190"/>
                </a:cxn>
                <a:cxn ang="0">
                  <a:pos x="609" y="1200"/>
                </a:cxn>
                <a:cxn ang="0">
                  <a:pos x="512" y="1194"/>
                </a:cxn>
                <a:cxn ang="0">
                  <a:pos x="417" y="1172"/>
                </a:cxn>
                <a:cxn ang="0">
                  <a:pos x="328" y="1135"/>
                </a:cxn>
                <a:cxn ang="0">
                  <a:pos x="245" y="1083"/>
                </a:cxn>
                <a:cxn ang="0">
                  <a:pos x="169" y="1017"/>
                </a:cxn>
                <a:cxn ang="0">
                  <a:pos x="105" y="937"/>
                </a:cxn>
                <a:cxn ang="0">
                  <a:pos x="54" y="848"/>
                </a:cxn>
                <a:cxn ang="0">
                  <a:pos x="21" y="754"/>
                </a:cxn>
                <a:cxn ang="0">
                  <a:pos x="3" y="658"/>
                </a:cxn>
                <a:cxn ang="0">
                  <a:pos x="2" y="560"/>
                </a:cxn>
                <a:cxn ang="0">
                  <a:pos x="16" y="464"/>
                </a:cxn>
                <a:cxn ang="0">
                  <a:pos x="45" y="372"/>
                </a:cxn>
                <a:cxn ang="0">
                  <a:pos x="89" y="285"/>
                </a:cxn>
                <a:cxn ang="0">
                  <a:pos x="148" y="206"/>
                </a:cxn>
                <a:cxn ang="0">
                  <a:pos x="220" y="135"/>
                </a:cxn>
                <a:cxn ang="0">
                  <a:pos x="306" y="77"/>
                </a:cxn>
                <a:cxn ang="0">
                  <a:pos x="398" y="35"/>
                </a:cxn>
                <a:cxn ang="0">
                  <a:pos x="493" y="9"/>
                </a:cxn>
                <a:cxn ang="0">
                  <a:pos x="590" y="0"/>
                </a:cxn>
              </a:cxnLst>
              <a:rect l="0" t="0" r="r" b="b"/>
              <a:pathLst>
                <a:path w="1199" h="1200">
                  <a:moveTo>
                    <a:pt x="585" y="388"/>
                  </a:moveTo>
                  <a:lnTo>
                    <a:pt x="558" y="392"/>
                  </a:lnTo>
                  <a:lnTo>
                    <a:pt x="532" y="399"/>
                  </a:lnTo>
                  <a:lnTo>
                    <a:pt x="505" y="410"/>
                  </a:lnTo>
                  <a:lnTo>
                    <a:pt x="480" y="424"/>
                  </a:lnTo>
                  <a:lnTo>
                    <a:pt x="457" y="442"/>
                  </a:lnTo>
                  <a:lnTo>
                    <a:pt x="438" y="463"/>
                  </a:lnTo>
                  <a:lnTo>
                    <a:pt x="422" y="485"/>
                  </a:lnTo>
                  <a:lnTo>
                    <a:pt x="408" y="508"/>
                  </a:lnTo>
                  <a:lnTo>
                    <a:pt x="398" y="534"/>
                  </a:lnTo>
                  <a:lnTo>
                    <a:pt x="391" y="560"/>
                  </a:lnTo>
                  <a:lnTo>
                    <a:pt x="388" y="587"/>
                  </a:lnTo>
                  <a:lnTo>
                    <a:pt x="388" y="614"/>
                  </a:lnTo>
                  <a:lnTo>
                    <a:pt x="392" y="642"/>
                  </a:lnTo>
                  <a:lnTo>
                    <a:pt x="400" y="668"/>
                  </a:lnTo>
                  <a:lnTo>
                    <a:pt x="410" y="694"/>
                  </a:lnTo>
                  <a:lnTo>
                    <a:pt x="425" y="720"/>
                  </a:lnTo>
                  <a:lnTo>
                    <a:pt x="443" y="742"/>
                  </a:lnTo>
                  <a:lnTo>
                    <a:pt x="463" y="762"/>
                  </a:lnTo>
                  <a:lnTo>
                    <a:pt x="485" y="778"/>
                  </a:lnTo>
                  <a:lnTo>
                    <a:pt x="509" y="791"/>
                  </a:lnTo>
                  <a:lnTo>
                    <a:pt x="534" y="801"/>
                  </a:lnTo>
                  <a:lnTo>
                    <a:pt x="560" y="809"/>
                  </a:lnTo>
                  <a:lnTo>
                    <a:pt x="587" y="812"/>
                  </a:lnTo>
                  <a:lnTo>
                    <a:pt x="615" y="812"/>
                  </a:lnTo>
                  <a:lnTo>
                    <a:pt x="642" y="808"/>
                  </a:lnTo>
                  <a:lnTo>
                    <a:pt x="668" y="800"/>
                  </a:lnTo>
                  <a:lnTo>
                    <a:pt x="694" y="790"/>
                  </a:lnTo>
                  <a:lnTo>
                    <a:pt x="719" y="775"/>
                  </a:lnTo>
                  <a:lnTo>
                    <a:pt x="742" y="757"/>
                  </a:lnTo>
                  <a:lnTo>
                    <a:pt x="761" y="737"/>
                  </a:lnTo>
                  <a:lnTo>
                    <a:pt x="778" y="715"/>
                  </a:lnTo>
                  <a:lnTo>
                    <a:pt x="791" y="691"/>
                  </a:lnTo>
                  <a:lnTo>
                    <a:pt x="801" y="666"/>
                  </a:lnTo>
                  <a:lnTo>
                    <a:pt x="808" y="639"/>
                  </a:lnTo>
                  <a:lnTo>
                    <a:pt x="811" y="612"/>
                  </a:lnTo>
                  <a:lnTo>
                    <a:pt x="811" y="585"/>
                  </a:lnTo>
                  <a:lnTo>
                    <a:pt x="808" y="558"/>
                  </a:lnTo>
                  <a:lnTo>
                    <a:pt x="800" y="531"/>
                  </a:lnTo>
                  <a:lnTo>
                    <a:pt x="790" y="505"/>
                  </a:lnTo>
                  <a:lnTo>
                    <a:pt x="775" y="481"/>
                  </a:lnTo>
                  <a:lnTo>
                    <a:pt x="757" y="458"/>
                  </a:lnTo>
                  <a:lnTo>
                    <a:pt x="737" y="438"/>
                  </a:lnTo>
                  <a:lnTo>
                    <a:pt x="715" y="422"/>
                  </a:lnTo>
                  <a:lnTo>
                    <a:pt x="691" y="408"/>
                  </a:lnTo>
                  <a:lnTo>
                    <a:pt x="666" y="398"/>
                  </a:lnTo>
                  <a:lnTo>
                    <a:pt x="639" y="391"/>
                  </a:lnTo>
                  <a:lnTo>
                    <a:pt x="612" y="388"/>
                  </a:lnTo>
                  <a:lnTo>
                    <a:pt x="585" y="388"/>
                  </a:lnTo>
                  <a:close/>
                  <a:moveTo>
                    <a:pt x="590" y="0"/>
                  </a:moveTo>
                  <a:lnTo>
                    <a:pt x="639" y="1"/>
                  </a:lnTo>
                  <a:lnTo>
                    <a:pt x="687" y="7"/>
                  </a:lnTo>
                  <a:lnTo>
                    <a:pt x="734" y="15"/>
                  </a:lnTo>
                  <a:lnTo>
                    <a:pt x="782" y="28"/>
                  </a:lnTo>
                  <a:lnTo>
                    <a:pt x="827" y="45"/>
                  </a:lnTo>
                  <a:lnTo>
                    <a:pt x="871" y="65"/>
                  </a:lnTo>
                  <a:lnTo>
                    <a:pt x="914" y="89"/>
                  </a:lnTo>
                  <a:lnTo>
                    <a:pt x="954" y="117"/>
                  </a:lnTo>
                  <a:lnTo>
                    <a:pt x="994" y="148"/>
                  </a:lnTo>
                  <a:lnTo>
                    <a:pt x="1030" y="182"/>
                  </a:lnTo>
                  <a:lnTo>
                    <a:pt x="1064" y="220"/>
                  </a:lnTo>
                  <a:lnTo>
                    <a:pt x="1095" y="262"/>
                  </a:lnTo>
                  <a:lnTo>
                    <a:pt x="1122" y="306"/>
                  </a:lnTo>
                  <a:lnTo>
                    <a:pt x="1145" y="352"/>
                  </a:lnTo>
                  <a:lnTo>
                    <a:pt x="1164" y="398"/>
                  </a:lnTo>
                  <a:lnTo>
                    <a:pt x="1178" y="445"/>
                  </a:lnTo>
                  <a:lnTo>
                    <a:pt x="1189" y="494"/>
                  </a:lnTo>
                  <a:lnTo>
                    <a:pt x="1196" y="543"/>
                  </a:lnTo>
                  <a:lnTo>
                    <a:pt x="1199" y="591"/>
                  </a:lnTo>
                  <a:lnTo>
                    <a:pt x="1197" y="640"/>
                  </a:lnTo>
                  <a:lnTo>
                    <a:pt x="1192" y="688"/>
                  </a:lnTo>
                  <a:lnTo>
                    <a:pt x="1183" y="735"/>
                  </a:lnTo>
                  <a:lnTo>
                    <a:pt x="1170" y="782"/>
                  </a:lnTo>
                  <a:lnTo>
                    <a:pt x="1154" y="828"/>
                  </a:lnTo>
                  <a:lnTo>
                    <a:pt x="1134" y="872"/>
                  </a:lnTo>
                  <a:lnTo>
                    <a:pt x="1110" y="915"/>
                  </a:lnTo>
                  <a:lnTo>
                    <a:pt x="1082" y="955"/>
                  </a:lnTo>
                  <a:lnTo>
                    <a:pt x="1051" y="995"/>
                  </a:lnTo>
                  <a:lnTo>
                    <a:pt x="1016" y="1031"/>
                  </a:lnTo>
                  <a:lnTo>
                    <a:pt x="979" y="1065"/>
                  </a:lnTo>
                  <a:lnTo>
                    <a:pt x="937" y="1096"/>
                  </a:lnTo>
                  <a:lnTo>
                    <a:pt x="893" y="1123"/>
                  </a:lnTo>
                  <a:lnTo>
                    <a:pt x="848" y="1146"/>
                  </a:lnTo>
                  <a:lnTo>
                    <a:pt x="801" y="1165"/>
                  </a:lnTo>
                  <a:lnTo>
                    <a:pt x="754" y="1180"/>
                  </a:lnTo>
                  <a:lnTo>
                    <a:pt x="706" y="1190"/>
                  </a:lnTo>
                  <a:lnTo>
                    <a:pt x="657" y="1198"/>
                  </a:lnTo>
                  <a:lnTo>
                    <a:pt x="609" y="1200"/>
                  </a:lnTo>
                  <a:lnTo>
                    <a:pt x="560" y="1198"/>
                  </a:lnTo>
                  <a:lnTo>
                    <a:pt x="512" y="1194"/>
                  </a:lnTo>
                  <a:lnTo>
                    <a:pt x="465" y="1185"/>
                  </a:lnTo>
                  <a:lnTo>
                    <a:pt x="417" y="1172"/>
                  </a:lnTo>
                  <a:lnTo>
                    <a:pt x="372" y="1155"/>
                  </a:lnTo>
                  <a:lnTo>
                    <a:pt x="328" y="1135"/>
                  </a:lnTo>
                  <a:lnTo>
                    <a:pt x="285" y="1110"/>
                  </a:lnTo>
                  <a:lnTo>
                    <a:pt x="245" y="1083"/>
                  </a:lnTo>
                  <a:lnTo>
                    <a:pt x="206" y="1052"/>
                  </a:lnTo>
                  <a:lnTo>
                    <a:pt x="169" y="1017"/>
                  </a:lnTo>
                  <a:lnTo>
                    <a:pt x="136" y="979"/>
                  </a:lnTo>
                  <a:lnTo>
                    <a:pt x="105" y="937"/>
                  </a:lnTo>
                  <a:lnTo>
                    <a:pt x="77" y="893"/>
                  </a:lnTo>
                  <a:lnTo>
                    <a:pt x="54" y="848"/>
                  </a:lnTo>
                  <a:lnTo>
                    <a:pt x="35" y="802"/>
                  </a:lnTo>
                  <a:lnTo>
                    <a:pt x="21" y="754"/>
                  </a:lnTo>
                  <a:lnTo>
                    <a:pt x="10" y="706"/>
                  </a:lnTo>
                  <a:lnTo>
                    <a:pt x="3" y="658"/>
                  </a:lnTo>
                  <a:lnTo>
                    <a:pt x="0" y="609"/>
                  </a:lnTo>
                  <a:lnTo>
                    <a:pt x="2" y="560"/>
                  </a:lnTo>
                  <a:lnTo>
                    <a:pt x="7" y="512"/>
                  </a:lnTo>
                  <a:lnTo>
                    <a:pt x="16" y="464"/>
                  </a:lnTo>
                  <a:lnTo>
                    <a:pt x="29" y="418"/>
                  </a:lnTo>
                  <a:lnTo>
                    <a:pt x="45" y="372"/>
                  </a:lnTo>
                  <a:lnTo>
                    <a:pt x="65" y="328"/>
                  </a:lnTo>
                  <a:lnTo>
                    <a:pt x="89" y="285"/>
                  </a:lnTo>
                  <a:lnTo>
                    <a:pt x="117" y="244"/>
                  </a:lnTo>
                  <a:lnTo>
                    <a:pt x="148" y="206"/>
                  </a:lnTo>
                  <a:lnTo>
                    <a:pt x="183" y="169"/>
                  </a:lnTo>
                  <a:lnTo>
                    <a:pt x="220" y="135"/>
                  </a:lnTo>
                  <a:lnTo>
                    <a:pt x="262" y="104"/>
                  </a:lnTo>
                  <a:lnTo>
                    <a:pt x="306" y="77"/>
                  </a:lnTo>
                  <a:lnTo>
                    <a:pt x="351" y="54"/>
                  </a:lnTo>
                  <a:lnTo>
                    <a:pt x="398" y="35"/>
                  </a:lnTo>
                  <a:lnTo>
                    <a:pt x="445" y="20"/>
                  </a:lnTo>
                  <a:lnTo>
                    <a:pt x="493" y="9"/>
                  </a:lnTo>
                  <a:lnTo>
                    <a:pt x="542" y="2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1" name="Freeform 125">
              <a:extLst>
                <a:ext uri="{FF2B5EF4-FFF2-40B4-BE49-F238E27FC236}">
                  <a16:creationId xmlns:a16="http://schemas.microsoft.com/office/drawing/2014/main" id="{DBCF6FB7-0F0D-1CF2-7D48-43882AF4B028}"/>
                </a:ext>
              </a:extLst>
            </p:cNvPr>
            <p:cNvSpPr>
              <a:spLocks noEditPoints="1"/>
            </p:cNvSpPr>
            <p:nvPr/>
          </p:nvSpPr>
          <p:spPr bwMode="auto">
            <a:xfrm rot="674051">
              <a:off x="5873977" y="2145767"/>
              <a:ext cx="1328880" cy="1329605"/>
            </a:xfrm>
            <a:custGeom>
              <a:avLst/>
              <a:gdLst/>
              <a:ahLst/>
              <a:cxnLst>
                <a:cxn ang="0">
                  <a:pos x="871" y="808"/>
                </a:cxn>
                <a:cxn ang="0">
                  <a:pos x="819" y="851"/>
                </a:cxn>
                <a:cxn ang="0">
                  <a:pos x="799" y="917"/>
                </a:cxn>
                <a:cxn ang="0">
                  <a:pos x="819" y="983"/>
                </a:cxn>
                <a:cxn ang="0">
                  <a:pos x="871" y="1025"/>
                </a:cxn>
                <a:cxn ang="0">
                  <a:pos x="941" y="1032"/>
                </a:cxn>
                <a:cxn ang="0">
                  <a:pos x="1000" y="1000"/>
                </a:cxn>
                <a:cxn ang="0">
                  <a:pos x="1032" y="940"/>
                </a:cxn>
                <a:cxn ang="0">
                  <a:pos x="1025" y="871"/>
                </a:cxn>
                <a:cxn ang="0">
                  <a:pos x="982" y="820"/>
                </a:cxn>
                <a:cxn ang="0">
                  <a:pos x="917" y="799"/>
                </a:cxn>
                <a:cxn ang="0">
                  <a:pos x="900" y="169"/>
                </a:cxn>
                <a:cxn ang="0">
                  <a:pos x="1018" y="176"/>
                </a:cxn>
                <a:cxn ang="0">
                  <a:pos x="1162" y="210"/>
                </a:cxn>
                <a:cxn ang="0">
                  <a:pos x="1292" y="79"/>
                </a:cxn>
                <a:cxn ang="0">
                  <a:pos x="1443" y="165"/>
                </a:cxn>
                <a:cxn ang="0">
                  <a:pos x="1433" y="377"/>
                </a:cxn>
                <a:cxn ang="0">
                  <a:pos x="1535" y="496"/>
                </a:cxn>
                <a:cxn ang="0">
                  <a:pos x="1609" y="635"/>
                </a:cxn>
                <a:cxn ang="0">
                  <a:pos x="1808" y="703"/>
                </a:cxn>
                <a:cxn ang="0">
                  <a:pos x="1833" y="875"/>
                </a:cxn>
                <a:cxn ang="0">
                  <a:pos x="1661" y="978"/>
                </a:cxn>
                <a:cxn ang="0">
                  <a:pos x="1626" y="1153"/>
                </a:cxn>
                <a:cxn ang="0">
                  <a:pos x="1729" y="1344"/>
                </a:cxn>
                <a:cxn ang="0">
                  <a:pos x="1632" y="1491"/>
                </a:cxn>
                <a:cxn ang="0">
                  <a:pos x="1420" y="1470"/>
                </a:cxn>
                <a:cxn ang="0">
                  <a:pos x="1293" y="1563"/>
                </a:cxn>
                <a:cxn ang="0">
                  <a:pos x="1245" y="1775"/>
                </a:cxn>
                <a:cxn ang="0">
                  <a:pos x="1074" y="1821"/>
                </a:cxn>
                <a:cxn ang="0">
                  <a:pos x="935" y="1665"/>
                </a:cxn>
                <a:cxn ang="0">
                  <a:pos x="796" y="1655"/>
                </a:cxn>
                <a:cxn ang="0">
                  <a:pos x="629" y="1607"/>
                </a:cxn>
                <a:cxn ang="0">
                  <a:pos x="441" y="1702"/>
                </a:cxn>
                <a:cxn ang="0">
                  <a:pos x="300" y="1596"/>
                </a:cxn>
                <a:cxn ang="0">
                  <a:pos x="332" y="1382"/>
                </a:cxn>
                <a:cxn ang="0">
                  <a:pos x="247" y="1249"/>
                </a:cxn>
                <a:cxn ang="0">
                  <a:pos x="41" y="1190"/>
                </a:cxn>
                <a:cxn ang="0">
                  <a:pos x="5" y="1018"/>
                </a:cxn>
                <a:cxn ang="0">
                  <a:pos x="170" y="936"/>
                </a:cxn>
                <a:cxn ang="0">
                  <a:pos x="180" y="796"/>
                </a:cxn>
                <a:cxn ang="0">
                  <a:pos x="228" y="627"/>
                </a:cxn>
                <a:cxn ang="0">
                  <a:pos x="104" y="491"/>
                </a:cxn>
                <a:cxn ang="0">
                  <a:pos x="201" y="343"/>
                </a:cxn>
                <a:cxn ang="0">
                  <a:pos x="376" y="401"/>
                </a:cxn>
                <a:cxn ang="0">
                  <a:pos x="496" y="299"/>
                </a:cxn>
                <a:cxn ang="0">
                  <a:pos x="635" y="224"/>
                </a:cxn>
                <a:cxn ang="0">
                  <a:pos x="645" y="40"/>
                </a:cxn>
                <a:cxn ang="0">
                  <a:pos x="818" y="4"/>
                </a:cxn>
              </a:cxnLst>
              <a:rect l="0" t="0" r="r" b="b"/>
              <a:pathLst>
                <a:path w="1833" h="1834">
                  <a:moveTo>
                    <a:pt x="917" y="799"/>
                  </a:moveTo>
                  <a:lnTo>
                    <a:pt x="893" y="802"/>
                  </a:lnTo>
                  <a:lnTo>
                    <a:pt x="871" y="808"/>
                  </a:lnTo>
                  <a:lnTo>
                    <a:pt x="851" y="820"/>
                  </a:lnTo>
                  <a:lnTo>
                    <a:pt x="834" y="833"/>
                  </a:lnTo>
                  <a:lnTo>
                    <a:pt x="819" y="851"/>
                  </a:lnTo>
                  <a:lnTo>
                    <a:pt x="808" y="871"/>
                  </a:lnTo>
                  <a:lnTo>
                    <a:pt x="801" y="893"/>
                  </a:lnTo>
                  <a:lnTo>
                    <a:pt x="799" y="917"/>
                  </a:lnTo>
                  <a:lnTo>
                    <a:pt x="801" y="940"/>
                  </a:lnTo>
                  <a:lnTo>
                    <a:pt x="808" y="962"/>
                  </a:lnTo>
                  <a:lnTo>
                    <a:pt x="819" y="983"/>
                  </a:lnTo>
                  <a:lnTo>
                    <a:pt x="834" y="1000"/>
                  </a:lnTo>
                  <a:lnTo>
                    <a:pt x="851" y="1015"/>
                  </a:lnTo>
                  <a:lnTo>
                    <a:pt x="871" y="1025"/>
                  </a:lnTo>
                  <a:lnTo>
                    <a:pt x="893" y="1032"/>
                  </a:lnTo>
                  <a:lnTo>
                    <a:pt x="917" y="1034"/>
                  </a:lnTo>
                  <a:lnTo>
                    <a:pt x="941" y="1032"/>
                  </a:lnTo>
                  <a:lnTo>
                    <a:pt x="963" y="1025"/>
                  </a:lnTo>
                  <a:lnTo>
                    <a:pt x="982" y="1015"/>
                  </a:lnTo>
                  <a:lnTo>
                    <a:pt x="1000" y="1000"/>
                  </a:lnTo>
                  <a:lnTo>
                    <a:pt x="1014" y="983"/>
                  </a:lnTo>
                  <a:lnTo>
                    <a:pt x="1025" y="962"/>
                  </a:lnTo>
                  <a:lnTo>
                    <a:pt x="1032" y="940"/>
                  </a:lnTo>
                  <a:lnTo>
                    <a:pt x="1034" y="917"/>
                  </a:lnTo>
                  <a:lnTo>
                    <a:pt x="1032" y="893"/>
                  </a:lnTo>
                  <a:lnTo>
                    <a:pt x="1025" y="871"/>
                  </a:lnTo>
                  <a:lnTo>
                    <a:pt x="1014" y="851"/>
                  </a:lnTo>
                  <a:lnTo>
                    <a:pt x="1000" y="833"/>
                  </a:lnTo>
                  <a:lnTo>
                    <a:pt x="982" y="820"/>
                  </a:lnTo>
                  <a:lnTo>
                    <a:pt x="963" y="808"/>
                  </a:lnTo>
                  <a:lnTo>
                    <a:pt x="941" y="802"/>
                  </a:lnTo>
                  <a:lnTo>
                    <a:pt x="917" y="799"/>
                  </a:lnTo>
                  <a:close/>
                  <a:moveTo>
                    <a:pt x="875" y="0"/>
                  </a:moveTo>
                  <a:lnTo>
                    <a:pt x="875" y="0"/>
                  </a:lnTo>
                  <a:lnTo>
                    <a:pt x="900" y="169"/>
                  </a:lnTo>
                  <a:lnTo>
                    <a:pt x="917" y="169"/>
                  </a:lnTo>
                  <a:lnTo>
                    <a:pt x="968" y="171"/>
                  </a:lnTo>
                  <a:lnTo>
                    <a:pt x="1018" y="176"/>
                  </a:lnTo>
                  <a:lnTo>
                    <a:pt x="1067" y="184"/>
                  </a:lnTo>
                  <a:lnTo>
                    <a:pt x="1115" y="195"/>
                  </a:lnTo>
                  <a:lnTo>
                    <a:pt x="1162" y="210"/>
                  </a:lnTo>
                  <a:lnTo>
                    <a:pt x="1207" y="228"/>
                  </a:lnTo>
                  <a:lnTo>
                    <a:pt x="1292" y="80"/>
                  </a:lnTo>
                  <a:lnTo>
                    <a:pt x="1292" y="79"/>
                  </a:lnTo>
                  <a:lnTo>
                    <a:pt x="1344" y="104"/>
                  </a:lnTo>
                  <a:lnTo>
                    <a:pt x="1394" y="133"/>
                  </a:lnTo>
                  <a:lnTo>
                    <a:pt x="1443" y="165"/>
                  </a:lnTo>
                  <a:lnTo>
                    <a:pt x="1491" y="200"/>
                  </a:lnTo>
                  <a:lnTo>
                    <a:pt x="1535" y="239"/>
                  </a:lnTo>
                  <a:lnTo>
                    <a:pt x="1433" y="377"/>
                  </a:lnTo>
                  <a:lnTo>
                    <a:pt x="1469" y="414"/>
                  </a:lnTo>
                  <a:lnTo>
                    <a:pt x="1503" y="454"/>
                  </a:lnTo>
                  <a:lnTo>
                    <a:pt x="1535" y="496"/>
                  </a:lnTo>
                  <a:lnTo>
                    <a:pt x="1562" y="541"/>
                  </a:lnTo>
                  <a:lnTo>
                    <a:pt x="1587" y="587"/>
                  </a:lnTo>
                  <a:lnTo>
                    <a:pt x="1609" y="635"/>
                  </a:lnTo>
                  <a:lnTo>
                    <a:pt x="1774" y="590"/>
                  </a:lnTo>
                  <a:lnTo>
                    <a:pt x="1794" y="647"/>
                  </a:lnTo>
                  <a:lnTo>
                    <a:pt x="1808" y="703"/>
                  </a:lnTo>
                  <a:lnTo>
                    <a:pt x="1821" y="760"/>
                  </a:lnTo>
                  <a:lnTo>
                    <a:pt x="1829" y="817"/>
                  </a:lnTo>
                  <a:lnTo>
                    <a:pt x="1833" y="875"/>
                  </a:lnTo>
                  <a:lnTo>
                    <a:pt x="1663" y="900"/>
                  </a:lnTo>
                  <a:lnTo>
                    <a:pt x="1663" y="917"/>
                  </a:lnTo>
                  <a:lnTo>
                    <a:pt x="1661" y="978"/>
                  </a:lnTo>
                  <a:lnTo>
                    <a:pt x="1654" y="1038"/>
                  </a:lnTo>
                  <a:lnTo>
                    <a:pt x="1642" y="1096"/>
                  </a:lnTo>
                  <a:lnTo>
                    <a:pt x="1626" y="1153"/>
                  </a:lnTo>
                  <a:lnTo>
                    <a:pt x="1605" y="1208"/>
                  </a:lnTo>
                  <a:lnTo>
                    <a:pt x="1754" y="1293"/>
                  </a:lnTo>
                  <a:lnTo>
                    <a:pt x="1729" y="1344"/>
                  </a:lnTo>
                  <a:lnTo>
                    <a:pt x="1700" y="1395"/>
                  </a:lnTo>
                  <a:lnTo>
                    <a:pt x="1668" y="1444"/>
                  </a:lnTo>
                  <a:lnTo>
                    <a:pt x="1632" y="1491"/>
                  </a:lnTo>
                  <a:lnTo>
                    <a:pt x="1594" y="1536"/>
                  </a:lnTo>
                  <a:lnTo>
                    <a:pt x="1457" y="1433"/>
                  </a:lnTo>
                  <a:lnTo>
                    <a:pt x="1420" y="1470"/>
                  </a:lnTo>
                  <a:lnTo>
                    <a:pt x="1380" y="1503"/>
                  </a:lnTo>
                  <a:lnTo>
                    <a:pt x="1338" y="1535"/>
                  </a:lnTo>
                  <a:lnTo>
                    <a:pt x="1293" y="1563"/>
                  </a:lnTo>
                  <a:lnTo>
                    <a:pt x="1247" y="1587"/>
                  </a:lnTo>
                  <a:lnTo>
                    <a:pt x="1199" y="1609"/>
                  </a:lnTo>
                  <a:lnTo>
                    <a:pt x="1245" y="1775"/>
                  </a:lnTo>
                  <a:lnTo>
                    <a:pt x="1188" y="1795"/>
                  </a:lnTo>
                  <a:lnTo>
                    <a:pt x="1132" y="1810"/>
                  </a:lnTo>
                  <a:lnTo>
                    <a:pt x="1074" y="1821"/>
                  </a:lnTo>
                  <a:lnTo>
                    <a:pt x="1017" y="1830"/>
                  </a:lnTo>
                  <a:lnTo>
                    <a:pt x="959" y="1834"/>
                  </a:lnTo>
                  <a:lnTo>
                    <a:pt x="935" y="1665"/>
                  </a:lnTo>
                  <a:lnTo>
                    <a:pt x="917" y="1665"/>
                  </a:lnTo>
                  <a:lnTo>
                    <a:pt x="856" y="1662"/>
                  </a:lnTo>
                  <a:lnTo>
                    <a:pt x="796" y="1655"/>
                  </a:lnTo>
                  <a:lnTo>
                    <a:pt x="739" y="1644"/>
                  </a:lnTo>
                  <a:lnTo>
                    <a:pt x="683" y="1627"/>
                  </a:lnTo>
                  <a:lnTo>
                    <a:pt x="629" y="1607"/>
                  </a:lnTo>
                  <a:lnTo>
                    <a:pt x="544" y="1755"/>
                  </a:lnTo>
                  <a:lnTo>
                    <a:pt x="492" y="1730"/>
                  </a:lnTo>
                  <a:lnTo>
                    <a:pt x="441" y="1702"/>
                  </a:lnTo>
                  <a:lnTo>
                    <a:pt x="392" y="1670"/>
                  </a:lnTo>
                  <a:lnTo>
                    <a:pt x="345" y="1635"/>
                  </a:lnTo>
                  <a:lnTo>
                    <a:pt x="300" y="1596"/>
                  </a:lnTo>
                  <a:lnTo>
                    <a:pt x="402" y="1459"/>
                  </a:lnTo>
                  <a:lnTo>
                    <a:pt x="365" y="1422"/>
                  </a:lnTo>
                  <a:lnTo>
                    <a:pt x="332" y="1382"/>
                  </a:lnTo>
                  <a:lnTo>
                    <a:pt x="300" y="1340"/>
                  </a:lnTo>
                  <a:lnTo>
                    <a:pt x="272" y="1295"/>
                  </a:lnTo>
                  <a:lnTo>
                    <a:pt x="247" y="1249"/>
                  </a:lnTo>
                  <a:lnTo>
                    <a:pt x="225" y="1201"/>
                  </a:lnTo>
                  <a:lnTo>
                    <a:pt x="61" y="1245"/>
                  </a:lnTo>
                  <a:lnTo>
                    <a:pt x="41" y="1190"/>
                  </a:lnTo>
                  <a:lnTo>
                    <a:pt x="26" y="1133"/>
                  </a:lnTo>
                  <a:lnTo>
                    <a:pt x="13" y="1076"/>
                  </a:lnTo>
                  <a:lnTo>
                    <a:pt x="5" y="1018"/>
                  </a:lnTo>
                  <a:lnTo>
                    <a:pt x="0" y="960"/>
                  </a:lnTo>
                  <a:lnTo>
                    <a:pt x="2" y="961"/>
                  </a:lnTo>
                  <a:lnTo>
                    <a:pt x="170" y="936"/>
                  </a:lnTo>
                  <a:lnTo>
                    <a:pt x="170" y="917"/>
                  </a:lnTo>
                  <a:lnTo>
                    <a:pt x="172" y="855"/>
                  </a:lnTo>
                  <a:lnTo>
                    <a:pt x="180" y="796"/>
                  </a:lnTo>
                  <a:lnTo>
                    <a:pt x="191" y="738"/>
                  </a:lnTo>
                  <a:lnTo>
                    <a:pt x="207" y="682"/>
                  </a:lnTo>
                  <a:lnTo>
                    <a:pt x="228" y="627"/>
                  </a:lnTo>
                  <a:lnTo>
                    <a:pt x="80" y="543"/>
                  </a:lnTo>
                  <a:lnTo>
                    <a:pt x="79" y="544"/>
                  </a:lnTo>
                  <a:lnTo>
                    <a:pt x="104" y="491"/>
                  </a:lnTo>
                  <a:lnTo>
                    <a:pt x="133" y="440"/>
                  </a:lnTo>
                  <a:lnTo>
                    <a:pt x="166" y="390"/>
                  </a:lnTo>
                  <a:lnTo>
                    <a:pt x="201" y="343"/>
                  </a:lnTo>
                  <a:lnTo>
                    <a:pt x="240" y="297"/>
                  </a:lnTo>
                  <a:lnTo>
                    <a:pt x="240" y="300"/>
                  </a:lnTo>
                  <a:lnTo>
                    <a:pt x="376" y="401"/>
                  </a:lnTo>
                  <a:lnTo>
                    <a:pt x="413" y="364"/>
                  </a:lnTo>
                  <a:lnTo>
                    <a:pt x="453" y="330"/>
                  </a:lnTo>
                  <a:lnTo>
                    <a:pt x="496" y="299"/>
                  </a:lnTo>
                  <a:lnTo>
                    <a:pt x="540" y="270"/>
                  </a:lnTo>
                  <a:lnTo>
                    <a:pt x="587" y="246"/>
                  </a:lnTo>
                  <a:lnTo>
                    <a:pt x="635" y="224"/>
                  </a:lnTo>
                  <a:lnTo>
                    <a:pt x="590" y="60"/>
                  </a:lnTo>
                  <a:lnTo>
                    <a:pt x="589" y="59"/>
                  </a:lnTo>
                  <a:lnTo>
                    <a:pt x="645" y="40"/>
                  </a:lnTo>
                  <a:lnTo>
                    <a:pt x="702" y="24"/>
                  </a:lnTo>
                  <a:lnTo>
                    <a:pt x="760" y="12"/>
                  </a:lnTo>
                  <a:lnTo>
                    <a:pt x="818" y="4"/>
                  </a:lnTo>
                  <a:lnTo>
                    <a:pt x="87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22" name="Freeform 126">
              <a:extLst>
                <a:ext uri="{FF2B5EF4-FFF2-40B4-BE49-F238E27FC236}">
                  <a16:creationId xmlns:a16="http://schemas.microsoft.com/office/drawing/2014/main" id="{14DC635A-A8DE-5033-DC68-3460FBBC54D0}"/>
                </a:ext>
              </a:extLst>
            </p:cNvPr>
            <p:cNvSpPr>
              <a:spLocks noEditPoints="1"/>
            </p:cNvSpPr>
            <p:nvPr/>
          </p:nvSpPr>
          <p:spPr bwMode="auto">
            <a:xfrm rot="674051">
              <a:off x="6103794" y="2375584"/>
              <a:ext cx="869246" cy="869971"/>
            </a:xfrm>
            <a:custGeom>
              <a:avLst/>
              <a:gdLst/>
              <a:ahLst/>
              <a:cxnLst>
                <a:cxn ang="0">
                  <a:pos x="558" y="392"/>
                </a:cxn>
                <a:cxn ang="0">
                  <a:pos x="505" y="410"/>
                </a:cxn>
                <a:cxn ang="0">
                  <a:pos x="457" y="442"/>
                </a:cxn>
                <a:cxn ang="0">
                  <a:pos x="422" y="485"/>
                </a:cxn>
                <a:cxn ang="0">
                  <a:pos x="398" y="534"/>
                </a:cxn>
                <a:cxn ang="0">
                  <a:pos x="388" y="587"/>
                </a:cxn>
                <a:cxn ang="0">
                  <a:pos x="392" y="642"/>
                </a:cxn>
                <a:cxn ang="0">
                  <a:pos x="410" y="694"/>
                </a:cxn>
                <a:cxn ang="0">
                  <a:pos x="443" y="742"/>
                </a:cxn>
                <a:cxn ang="0">
                  <a:pos x="485" y="778"/>
                </a:cxn>
                <a:cxn ang="0">
                  <a:pos x="534" y="801"/>
                </a:cxn>
                <a:cxn ang="0">
                  <a:pos x="587" y="812"/>
                </a:cxn>
                <a:cxn ang="0">
                  <a:pos x="642" y="808"/>
                </a:cxn>
                <a:cxn ang="0">
                  <a:pos x="694" y="790"/>
                </a:cxn>
                <a:cxn ang="0">
                  <a:pos x="742" y="757"/>
                </a:cxn>
                <a:cxn ang="0">
                  <a:pos x="778" y="715"/>
                </a:cxn>
                <a:cxn ang="0">
                  <a:pos x="801" y="666"/>
                </a:cxn>
                <a:cxn ang="0">
                  <a:pos x="811" y="612"/>
                </a:cxn>
                <a:cxn ang="0">
                  <a:pos x="808" y="558"/>
                </a:cxn>
                <a:cxn ang="0">
                  <a:pos x="790" y="505"/>
                </a:cxn>
                <a:cxn ang="0">
                  <a:pos x="757" y="458"/>
                </a:cxn>
                <a:cxn ang="0">
                  <a:pos x="715" y="422"/>
                </a:cxn>
                <a:cxn ang="0">
                  <a:pos x="666" y="398"/>
                </a:cxn>
                <a:cxn ang="0">
                  <a:pos x="612" y="388"/>
                </a:cxn>
                <a:cxn ang="0">
                  <a:pos x="590" y="0"/>
                </a:cxn>
                <a:cxn ang="0">
                  <a:pos x="687" y="7"/>
                </a:cxn>
                <a:cxn ang="0">
                  <a:pos x="782" y="28"/>
                </a:cxn>
                <a:cxn ang="0">
                  <a:pos x="871" y="65"/>
                </a:cxn>
                <a:cxn ang="0">
                  <a:pos x="954" y="117"/>
                </a:cxn>
                <a:cxn ang="0">
                  <a:pos x="1030" y="182"/>
                </a:cxn>
                <a:cxn ang="0">
                  <a:pos x="1095" y="262"/>
                </a:cxn>
                <a:cxn ang="0">
                  <a:pos x="1145" y="352"/>
                </a:cxn>
                <a:cxn ang="0">
                  <a:pos x="1178" y="445"/>
                </a:cxn>
                <a:cxn ang="0">
                  <a:pos x="1196" y="543"/>
                </a:cxn>
                <a:cxn ang="0">
                  <a:pos x="1197" y="640"/>
                </a:cxn>
                <a:cxn ang="0">
                  <a:pos x="1183" y="735"/>
                </a:cxn>
                <a:cxn ang="0">
                  <a:pos x="1154" y="828"/>
                </a:cxn>
                <a:cxn ang="0">
                  <a:pos x="1110" y="915"/>
                </a:cxn>
                <a:cxn ang="0">
                  <a:pos x="1051" y="995"/>
                </a:cxn>
                <a:cxn ang="0">
                  <a:pos x="979" y="1065"/>
                </a:cxn>
                <a:cxn ang="0">
                  <a:pos x="893" y="1123"/>
                </a:cxn>
                <a:cxn ang="0">
                  <a:pos x="801" y="1165"/>
                </a:cxn>
                <a:cxn ang="0">
                  <a:pos x="706" y="1190"/>
                </a:cxn>
                <a:cxn ang="0">
                  <a:pos x="609" y="1200"/>
                </a:cxn>
                <a:cxn ang="0">
                  <a:pos x="512" y="1194"/>
                </a:cxn>
                <a:cxn ang="0">
                  <a:pos x="417" y="1172"/>
                </a:cxn>
                <a:cxn ang="0">
                  <a:pos x="328" y="1135"/>
                </a:cxn>
                <a:cxn ang="0">
                  <a:pos x="245" y="1083"/>
                </a:cxn>
                <a:cxn ang="0">
                  <a:pos x="169" y="1017"/>
                </a:cxn>
                <a:cxn ang="0">
                  <a:pos x="105" y="937"/>
                </a:cxn>
                <a:cxn ang="0">
                  <a:pos x="54" y="848"/>
                </a:cxn>
                <a:cxn ang="0">
                  <a:pos x="21" y="754"/>
                </a:cxn>
                <a:cxn ang="0">
                  <a:pos x="3" y="658"/>
                </a:cxn>
                <a:cxn ang="0">
                  <a:pos x="2" y="560"/>
                </a:cxn>
                <a:cxn ang="0">
                  <a:pos x="16" y="464"/>
                </a:cxn>
                <a:cxn ang="0">
                  <a:pos x="45" y="372"/>
                </a:cxn>
                <a:cxn ang="0">
                  <a:pos x="89" y="285"/>
                </a:cxn>
                <a:cxn ang="0">
                  <a:pos x="148" y="206"/>
                </a:cxn>
                <a:cxn ang="0">
                  <a:pos x="220" y="135"/>
                </a:cxn>
                <a:cxn ang="0">
                  <a:pos x="306" y="77"/>
                </a:cxn>
                <a:cxn ang="0">
                  <a:pos x="398" y="35"/>
                </a:cxn>
                <a:cxn ang="0">
                  <a:pos x="493" y="9"/>
                </a:cxn>
                <a:cxn ang="0">
                  <a:pos x="590" y="0"/>
                </a:cxn>
              </a:cxnLst>
              <a:rect l="0" t="0" r="r" b="b"/>
              <a:pathLst>
                <a:path w="1199" h="1200">
                  <a:moveTo>
                    <a:pt x="585" y="388"/>
                  </a:moveTo>
                  <a:lnTo>
                    <a:pt x="558" y="392"/>
                  </a:lnTo>
                  <a:lnTo>
                    <a:pt x="532" y="399"/>
                  </a:lnTo>
                  <a:lnTo>
                    <a:pt x="505" y="410"/>
                  </a:lnTo>
                  <a:lnTo>
                    <a:pt x="480" y="424"/>
                  </a:lnTo>
                  <a:lnTo>
                    <a:pt x="457" y="442"/>
                  </a:lnTo>
                  <a:lnTo>
                    <a:pt x="438" y="463"/>
                  </a:lnTo>
                  <a:lnTo>
                    <a:pt x="422" y="485"/>
                  </a:lnTo>
                  <a:lnTo>
                    <a:pt x="408" y="508"/>
                  </a:lnTo>
                  <a:lnTo>
                    <a:pt x="398" y="534"/>
                  </a:lnTo>
                  <a:lnTo>
                    <a:pt x="391" y="560"/>
                  </a:lnTo>
                  <a:lnTo>
                    <a:pt x="388" y="587"/>
                  </a:lnTo>
                  <a:lnTo>
                    <a:pt x="388" y="614"/>
                  </a:lnTo>
                  <a:lnTo>
                    <a:pt x="392" y="642"/>
                  </a:lnTo>
                  <a:lnTo>
                    <a:pt x="400" y="668"/>
                  </a:lnTo>
                  <a:lnTo>
                    <a:pt x="410" y="694"/>
                  </a:lnTo>
                  <a:lnTo>
                    <a:pt x="425" y="720"/>
                  </a:lnTo>
                  <a:lnTo>
                    <a:pt x="443" y="742"/>
                  </a:lnTo>
                  <a:lnTo>
                    <a:pt x="463" y="762"/>
                  </a:lnTo>
                  <a:lnTo>
                    <a:pt x="485" y="778"/>
                  </a:lnTo>
                  <a:lnTo>
                    <a:pt x="509" y="791"/>
                  </a:lnTo>
                  <a:lnTo>
                    <a:pt x="534" y="801"/>
                  </a:lnTo>
                  <a:lnTo>
                    <a:pt x="560" y="809"/>
                  </a:lnTo>
                  <a:lnTo>
                    <a:pt x="587" y="812"/>
                  </a:lnTo>
                  <a:lnTo>
                    <a:pt x="615" y="812"/>
                  </a:lnTo>
                  <a:lnTo>
                    <a:pt x="642" y="808"/>
                  </a:lnTo>
                  <a:lnTo>
                    <a:pt x="668" y="800"/>
                  </a:lnTo>
                  <a:lnTo>
                    <a:pt x="694" y="790"/>
                  </a:lnTo>
                  <a:lnTo>
                    <a:pt x="719" y="775"/>
                  </a:lnTo>
                  <a:lnTo>
                    <a:pt x="742" y="757"/>
                  </a:lnTo>
                  <a:lnTo>
                    <a:pt x="761" y="737"/>
                  </a:lnTo>
                  <a:lnTo>
                    <a:pt x="778" y="715"/>
                  </a:lnTo>
                  <a:lnTo>
                    <a:pt x="791" y="691"/>
                  </a:lnTo>
                  <a:lnTo>
                    <a:pt x="801" y="666"/>
                  </a:lnTo>
                  <a:lnTo>
                    <a:pt x="808" y="639"/>
                  </a:lnTo>
                  <a:lnTo>
                    <a:pt x="811" y="612"/>
                  </a:lnTo>
                  <a:lnTo>
                    <a:pt x="811" y="585"/>
                  </a:lnTo>
                  <a:lnTo>
                    <a:pt x="808" y="558"/>
                  </a:lnTo>
                  <a:lnTo>
                    <a:pt x="800" y="531"/>
                  </a:lnTo>
                  <a:lnTo>
                    <a:pt x="790" y="505"/>
                  </a:lnTo>
                  <a:lnTo>
                    <a:pt x="775" y="481"/>
                  </a:lnTo>
                  <a:lnTo>
                    <a:pt x="757" y="458"/>
                  </a:lnTo>
                  <a:lnTo>
                    <a:pt x="737" y="438"/>
                  </a:lnTo>
                  <a:lnTo>
                    <a:pt x="715" y="422"/>
                  </a:lnTo>
                  <a:lnTo>
                    <a:pt x="691" y="408"/>
                  </a:lnTo>
                  <a:lnTo>
                    <a:pt x="666" y="398"/>
                  </a:lnTo>
                  <a:lnTo>
                    <a:pt x="639" y="391"/>
                  </a:lnTo>
                  <a:lnTo>
                    <a:pt x="612" y="388"/>
                  </a:lnTo>
                  <a:lnTo>
                    <a:pt x="585" y="388"/>
                  </a:lnTo>
                  <a:close/>
                  <a:moveTo>
                    <a:pt x="590" y="0"/>
                  </a:moveTo>
                  <a:lnTo>
                    <a:pt x="639" y="1"/>
                  </a:lnTo>
                  <a:lnTo>
                    <a:pt x="687" y="7"/>
                  </a:lnTo>
                  <a:lnTo>
                    <a:pt x="734" y="15"/>
                  </a:lnTo>
                  <a:lnTo>
                    <a:pt x="782" y="28"/>
                  </a:lnTo>
                  <a:lnTo>
                    <a:pt x="827" y="45"/>
                  </a:lnTo>
                  <a:lnTo>
                    <a:pt x="871" y="65"/>
                  </a:lnTo>
                  <a:lnTo>
                    <a:pt x="914" y="89"/>
                  </a:lnTo>
                  <a:lnTo>
                    <a:pt x="954" y="117"/>
                  </a:lnTo>
                  <a:lnTo>
                    <a:pt x="994" y="148"/>
                  </a:lnTo>
                  <a:lnTo>
                    <a:pt x="1030" y="182"/>
                  </a:lnTo>
                  <a:lnTo>
                    <a:pt x="1064" y="220"/>
                  </a:lnTo>
                  <a:lnTo>
                    <a:pt x="1095" y="262"/>
                  </a:lnTo>
                  <a:lnTo>
                    <a:pt x="1122" y="306"/>
                  </a:lnTo>
                  <a:lnTo>
                    <a:pt x="1145" y="352"/>
                  </a:lnTo>
                  <a:lnTo>
                    <a:pt x="1164" y="398"/>
                  </a:lnTo>
                  <a:lnTo>
                    <a:pt x="1178" y="445"/>
                  </a:lnTo>
                  <a:lnTo>
                    <a:pt x="1189" y="494"/>
                  </a:lnTo>
                  <a:lnTo>
                    <a:pt x="1196" y="543"/>
                  </a:lnTo>
                  <a:lnTo>
                    <a:pt x="1199" y="591"/>
                  </a:lnTo>
                  <a:lnTo>
                    <a:pt x="1197" y="640"/>
                  </a:lnTo>
                  <a:lnTo>
                    <a:pt x="1192" y="688"/>
                  </a:lnTo>
                  <a:lnTo>
                    <a:pt x="1183" y="735"/>
                  </a:lnTo>
                  <a:lnTo>
                    <a:pt x="1170" y="782"/>
                  </a:lnTo>
                  <a:lnTo>
                    <a:pt x="1154" y="828"/>
                  </a:lnTo>
                  <a:lnTo>
                    <a:pt x="1134" y="872"/>
                  </a:lnTo>
                  <a:lnTo>
                    <a:pt x="1110" y="915"/>
                  </a:lnTo>
                  <a:lnTo>
                    <a:pt x="1082" y="955"/>
                  </a:lnTo>
                  <a:lnTo>
                    <a:pt x="1051" y="995"/>
                  </a:lnTo>
                  <a:lnTo>
                    <a:pt x="1016" y="1031"/>
                  </a:lnTo>
                  <a:lnTo>
                    <a:pt x="979" y="1065"/>
                  </a:lnTo>
                  <a:lnTo>
                    <a:pt x="937" y="1096"/>
                  </a:lnTo>
                  <a:lnTo>
                    <a:pt x="893" y="1123"/>
                  </a:lnTo>
                  <a:lnTo>
                    <a:pt x="848" y="1146"/>
                  </a:lnTo>
                  <a:lnTo>
                    <a:pt x="801" y="1165"/>
                  </a:lnTo>
                  <a:lnTo>
                    <a:pt x="754" y="1180"/>
                  </a:lnTo>
                  <a:lnTo>
                    <a:pt x="706" y="1190"/>
                  </a:lnTo>
                  <a:lnTo>
                    <a:pt x="657" y="1198"/>
                  </a:lnTo>
                  <a:lnTo>
                    <a:pt x="609" y="1200"/>
                  </a:lnTo>
                  <a:lnTo>
                    <a:pt x="560" y="1198"/>
                  </a:lnTo>
                  <a:lnTo>
                    <a:pt x="512" y="1194"/>
                  </a:lnTo>
                  <a:lnTo>
                    <a:pt x="465" y="1185"/>
                  </a:lnTo>
                  <a:lnTo>
                    <a:pt x="417" y="1172"/>
                  </a:lnTo>
                  <a:lnTo>
                    <a:pt x="372" y="1155"/>
                  </a:lnTo>
                  <a:lnTo>
                    <a:pt x="328" y="1135"/>
                  </a:lnTo>
                  <a:lnTo>
                    <a:pt x="285" y="1110"/>
                  </a:lnTo>
                  <a:lnTo>
                    <a:pt x="245" y="1083"/>
                  </a:lnTo>
                  <a:lnTo>
                    <a:pt x="206" y="1052"/>
                  </a:lnTo>
                  <a:lnTo>
                    <a:pt x="169" y="1017"/>
                  </a:lnTo>
                  <a:lnTo>
                    <a:pt x="136" y="979"/>
                  </a:lnTo>
                  <a:lnTo>
                    <a:pt x="105" y="937"/>
                  </a:lnTo>
                  <a:lnTo>
                    <a:pt x="77" y="893"/>
                  </a:lnTo>
                  <a:lnTo>
                    <a:pt x="54" y="848"/>
                  </a:lnTo>
                  <a:lnTo>
                    <a:pt x="35" y="802"/>
                  </a:lnTo>
                  <a:lnTo>
                    <a:pt x="21" y="754"/>
                  </a:lnTo>
                  <a:lnTo>
                    <a:pt x="10" y="706"/>
                  </a:lnTo>
                  <a:lnTo>
                    <a:pt x="3" y="658"/>
                  </a:lnTo>
                  <a:lnTo>
                    <a:pt x="0" y="609"/>
                  </a:lnTo>
                  <a:lnTo>
                    <a:pt x="2" y="560"/>
                  </a:lnTo>
                  <a:lnTo>
                    <a:pt x="7" y="512"/>
                  </a:lnTo>
                  <a:lnTo>
                    <a:pt x="16" y="464"/>
                  </a:lnTo>
                  <a:lnTo>
                    <a:pt x="29" y="418"/>
                  </a:lnTo>
                  <a:lnTo>
                    <a:pt x="45" y="372"/>
                  </a:lnTo>
                  <a:lnTo>
                    <a:pt x="65" y="328"/>
                  </a:lnTo>
                  <a:lnTo>
                    <a:pt x="89" y="285"/>
                  </a:lnTo>
                  <a:lnTo>
                    <a:pt x="117" y="244"/>
                  </a:lnTo>
                  <a:lnTo>
                    <a:pt x="148" y="206"/>
                  </a:lnTo>
                  <a:lnTo>
                    <a:pt x="183" y="169"/>
                  </a:lnTo>
                  <a:lnTo>
                    <a:pt x="220" y="135"/>
                  </a:lnTo>
                  <a:lnTo>
                    <a:pt x="262" y="104"/>
                  </a:lnTo>
                  <a:lnTo>
                    <a:pt x="306" y="77"/>
                  </a:lnTo>
                  <a:lnTo>
                    <a:pt x="351" y="54"/>
                  </a:lnTo>
                  <a:lnTo>
                    <a:pt x="398" y="35"/>
                  </a:lnTo>
                  <a:lnTo>
                    <a:pt x="445" y="20"/>
                  </a:lnTo>
                  <a:lnTo>
                    <a:pt x="493" y="9"/>
                  </a:lnTo>
                  <a:lnTo>
                    <a:pt x="542" y="2"/>
                  </a:lnTo>
                  <a:lnTo>
                    <a:pt x="590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FEB8A74-2A49-713F-C255-EEB761E48B07}"/>
              </a:ext>
            </a:extLst>
          </p:cNvPr>
          <p:cNvSpPr/>
          <p:nvPr/>
        </p:nvSpPr>
        <p:spPr>
          <a:xfrm>
            <a:off x="6581249" y="1095156"/>
            <a:ext cx="5322780" cy="5211761"/>
          </a:xfrm>
          <a:prstGeom prst="rect">
            <a:avLst/>
          </a:prstGeom>
          <a:solidFill>
            <a:schemeClr val="bg1"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907A69-5D44-D0EA-2B65-410846739B3A}"/>
              </a:ext>
            </a:extLst>
          </p:cNvPr>
          <p:cNvSpPr txBox="1"/>
          <p:nvPr/>
        </p:nvSpPr>
        <p:spPr>
          <a:xfrm>
            <a:off x="6675339" y="1262982"/>
            <a:ext cx="4970639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EF Core takes your LINQ expression tree, runs it through a query pipeline, and generates SQL. But subtle changes in how you write LINQ can completely change the SQL. That’s why understanding the translation process is so important.</a:t>
            </a:r>
          </a:p>
        </p:txBody>
      </p:sp>
    </p:spTree>
    <p:extLst>
      <p:ext uri="{BB962C8B-B14F-4D97-AF65-F5344CB8AC3E}">
        <p14:creationId xmlns:p14="http://schemas.microsoft.com/office/powerpoint/2010/main" val="248984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2038-D655-FDD9-0907-30B88919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4616E60-B0FF-1B98-EB0E-52AB60028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Performance Pitfalls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D8D41200-3CB4-DEC2-EE58-31EFB5BD388B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838200" y="1912938"/>
            <a:ext cx="10515600" cy="3921125"/>
          </a:xfrm>
        </p:spPr>
        <p:txBody>
          <a:bodyPr>
            <a:normAutofit/>
          </a:bodyPr>
          <a:lstStyle/>
          <a:p>
            <a:pPr>
              <a:buClr>
                <a:schemeClr val="tx2"/>
              </a:buClr>
            </a:pPr>
            <a:r>
              <a:rPr lang="en-US" sz="4000" dirty="0"/>
              <a:t>N+1 queries</a:t>
            </a:r>
          </a:p>
          <a:p>
            <a:pPr>
              <a:buClr>
                <a:schemeClr val="tx2"/>
              </a:buClr>
            </a:pPr>
            <a:r>
              <a:rPr lang="en-US" sz="4000" dirty="0"/>
              <a:t>Redundant Includes</a:t>
            </a:r>
          </a:p>
          <a:p>
            <a:pPr>
              <a:buClr>
                <a:schemeClr val="tx2"/>
              </a:buClr>
            </a:pPr>
            <a:r>
              <a:rPr lang="en-US" sz="4000" dirty="0"/>
              <a:t>Cartesian Explosions</a:t>
            </a:r>
          </a:p>
          <a:p>
            <a:pPr>
              <a:buClr>
                <a:schemeClr val="tx2"/>
              </a:buClr>
            </a:pPr>
            <a:r>
              <a:rPr lang="en-US" sz="4000" dirty="0"/>
              <a:t>Queries that bring back way too much data</a:t>
            </a:r>
          </a:p>
        </p:txBody>
      </p:sp>
    </p:spTree>
    <p:extLst>
      <p:ext uri="{BB962C8B-B14F-4D97-AF65-F5344CB8AC3E}">
        <p14:creationId xmlns:p14="http://schemas.microsoft.com/office/powerpoint/2010/main" val="25119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418A99-5CA8-433E-ADE7-279E5BF705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B1C95A-FD2C-4B03-8EB3-A8C1017E4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Tip #2 – understand query Plans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0017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91D138-9D96-437E-9921-7AA17B61FA98}"/>
              </a:ext>
            </a:extLst>
          </p:cNvPr>
          <p:cNvSpPr/>
          <p:nvPr/>
        </p:nvSpPr>
        <p:spPr>
          <a:xfrm>
            <a:off x="400787" y="142540"/>
            <a:ext cx="11243920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SELECT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TrackName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a.Title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ar.Name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ArtistName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i.InvoiceDate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FROM Customer AS c</a:t>
            </a: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Invoice AS i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i.CustomerId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InvoiceLine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i.InvoiceId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il.InvoiceId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Track AS t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il.TrackId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t.TrackId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Album AS a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t.AlbumId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a.AlbumId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Artist AS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ON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ar.ArtistId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WHERE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c.CustomerId</a:t>
            </a:r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= 2</a:t>
            </a:r>
          </a:p>
          <a:p>
            <a:r>
              <a:rPr lang="en-US" sz="20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ORDER BY </a:t>
            </a:r>
            <a:r>
              <a:rPr lang="en-US" sz="20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AlbumName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52891-5548-4C5A-9974-960130898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24888"/>
            <a:ext cx="12192000" cy="2594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96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AFB0A1-901F-45F3-914B-4808B0A60D7F}"/>
              </a:ext>
            </a:extLst>
          </p:cNvPr>
          <p:cNvSpPr/>
          <p:nvPr/>
        </p:nvSpPr>
        <p:spPr>
          <a:xfrm>
            <a:off x="243840" y="63030"/>
            <a:ext cx="11704320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SELECT DISTINCT pp.[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nameFirst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NameFirst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pp.[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nameLast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NameLast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franchName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[Franchise]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FROM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SeriesPost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sp</a:t>
            </a:r>
            <a:endParaRPr lang="en-US" sz="16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[Teams] AS t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(sp.[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teamIDwinner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]) AND (sp.[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lgIDwinner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t.[lgID]) AND (sp.[yearID] = t.[yearID])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TeamsFranchises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AS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endParaRPr lang="en-US" sz="16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tf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franchID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[Pitching] AS p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(t.[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= p.[</a:t>
            </a:r>
            <a:r>
              <a:rPr lang="en-US" sz="1600" dirty="0" err="1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teamID</a:t>
            </a:r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]) AND (t.[lgID] = p.[lgID]) AND (t.[yearID] = p.[yearID])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INNER JOIN [People] AS pp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ON p.[playerID] = pp.[playerID]</a:t>
            </a:r>
          </a:p>
          <a:p>
            <a:r>
              <a:rPr lang="en-US" sz="1600" dirty="0"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WHERE (sp.[round] = 'WS') AND (sp.[yearID] = 2018)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79176F-FFAF-4054-887C-B5B5AFAF76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92338"/>
            <a:ext cx="12192000" cy="346566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14:cNvPr>
              <p14:cNvContentPartPr/>
              <p14:nvPr/>
            </p14:nvContentPartPr>
            <p14:xfrm>
              <a:off x="41889" y="3839132"/>
              <a:ext cx="8451720" cy="1094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0199339-F740-4D4E-9805-7DA77544364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2111" y="3731132"/>
                <a:ext cx="8559360" cy="32508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04AD498-AED8-42D7-B759-7E61F7AF6A04}"/>
              </a:ext>
            </a:extLst>
          </p:cNvPr>
          <p:cNvSpPr txBox="1"/>
          <p:nvPr/>
        </p:nvSpPr>
        <p:spPr>
          <a:xfrm>
            <a:off x="4087906" y="4801822"/>
            <a:ext cx="1447392" cy="1271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48F13A6-07E0-4B99-8B40-8AE6E8359343}"/>
              </a:ext>
            </a:extLst>
          </p:cNvPr>
          <p:cNvSpPr/>
          <p:nvPr/>
        </p:nvSpPr>
        <p:spPr>
          <a:xfrm>
            <a:off x="4048787" y="4899619"/>
            <a:ext cx="1349596" cy="1173562"/>
          </a:xfrm>
          <a:prstGeom prst="round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072B2B-88FC-444C-B5A3-4DFBCE941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5289" y="1453492"/>
            <a:ext cx="3295363" cy="2786577"/>
          </a:xfrm>
          <a:prstGeom prst="rect">
            <a:avLst/>
          </a:prstGeom>
          <a:ln w="76200">
            <a:solidFill>
              <a:srgbClr val="FF0000"/>
            </a:solidFill>
          </a:ln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D17BDF1-ECA2-4066-84B6-4B3EB6D4F6A8}"/>
              </a:ext>
            </a:extLst>
          </p:cNvPr>
          <p:cNvSpPr/>
          <p:nvPr/>
        </p:nvSpPr>
        <p:spPr>
          <a:xfrm rot="20049201">
            <a:off x="5242138" y="4458835"/>
            <a:ext cx="1196301" cy="39338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663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A0FE52-9054-7295-BBA3-12F30A800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reeform 5">
            <a:extLst>
              <a:ext uri="{FF2B5EF4-FFF2-40B4-BE49-F238E27FC236}">
                <a16:creationId xmlns:a16="http://schemas.microsoft.com/office/drawing/2014/main" id="{811B972F-3D6F-CB1A-509D-6BEC09929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prstClr val="white"/>
              </a:buClr>
              <a:buSzPct val="100000"/>
              <a:buFont typeface="Arial"/>
              <a:buNone/>
              <a:tabLst/>
              <a:defRPr/>
            </a:pPr>
            <a:endParaRPr kumimoji="0" lang="en-US" sz="1600" b="0" i="0" u="none" strike="noStrike" kern="1200" cap="all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arket_Deco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21A356-7043-9425-B9D4-46D1BAD06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Tip #1 – Have better databases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51B51D2-4826-E4C5-7467-4F24A279C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5748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BA04007-9192-870A-2E91-20A8BC4F0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8507537C-2001-2703-BAD5-7343B65B3D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Common Database Design Issues</a:t>
            </a:r>
          </a:p>
          <a:p>
            <a:r>
              <a:rPr lang="en-US" dirty="0" err="1"/>
              <a:t>BadBookStore</a:t>
            </a:r>
            <a:r>
              <a:rPr lang="en-US" dirty="0"/>
              <a:t> represents a book store with a badly designed database schema.</a:t>
            </a:r>
          </a:p>
          <a:p>
            <a:r>
              <a:rPr lang="en-US" dirty="0"/>
              <a:t>8 queries that show what other developers (not smart Update Conference attendees</a:t>
            </a:r>
            <a:r>
              <a:rPr lang="en-US"/>
              <a:t>) would do.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3280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5AAAB-9CB2-47CD-9B81-D581C41B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6627" y="1783959"/>
            <a:ext cx="4984343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700" dirty="0">
                <a:latin typeface="Aptos Black "/>
              </a:rPr>
              <a:t>Tip #3 – Query Tags and Extended Events</a:t>
            </a:r>
          </a:p>
        </p:txBody>
      </p:sp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9B7B2723-FE92-464B-815A-2DB752A3B2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"/>
          <a:stretch/>
        </p:blipFill>
        <p:spPr bwMode="auto"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1476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Query Tags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9AFECE5-053D-4B03-B3C4-445928675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67" y="2348186"/>
            <a:ext cx="11247594" cy="230832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=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_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context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Include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(a =&gt;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Artist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"Description: Query for Albums"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"Query located: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Chinook.Controllers.AlbumsController.Index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 method"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.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TagWith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@"Parameters: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106B1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  None"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);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6457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Query Tags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2CB9EB-F6DD-4B04-88A3-A248922FB50E}"/>
              </a:ext>
            </a:extLst>
          </p:cNvPr>
          <p:cNvSpPr/>
          <p:nvPr/>
        </p:nvSpPr>
        <p:spPr>
          <a:xfrm>
            <a:off x="838200" y="1760532"/>
            <a:ext cx="1105837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Description: Query for Albums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Query located: 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Chinook.Controllers.AlbumsController.Index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 method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Parameters: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--                     None</a:t>
            </a:r>
          </a:p>
          <a:p>
            <a:endParaRPr lang="en-US" sz="2400" dirty="0">
              <a:solidFill>
                <a:schemeClr val="bg1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SELECT [a].[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AlbumId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[a].[ArtistId],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[a].[Title],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].[ArtistId],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].[Name]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FROM [Album] AS [a]</a:t>
            </a:r>
          </a:p>
          <a:p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 INNER JOIN [Artist] AS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ON [a].[ArtistId] = [</a:t>
            </a:r>
            <a:r>
              <a:rPr lang="en-US" sz="24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a.Artist</a:t>
            </a:r>
            <a:r>
              <a:rPr lang="en-US" sz="24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].[ArtistId]</a:t>
            </a:r>
          </a:p>
        </p:txBody>
      </p:sp>
    </p:spTree>
    <p:extLst>
      <p:ext uri="{BB962C8B-B14F-4D97-AF65-F5344CB8AC3E}">
        <p14:creationId xmlns:p14="http://schemas.microsoft.com/office/powerpoint/2010/main" val="15098899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Extended Events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B1FA20-D837-4803-ACAD-1460EBB040BF}"/>
              </a:ext>
            </a:extLst>
          </p:cNvPr>
          <p:cNvSpPr/>
          <p:nvPr/>
        </p:nvSpPr>
        <p:spPr>
          <a:xfrm>
            <a:off x="838200" y="2214607"/>
            <a:ext cx="11701035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CREATE EVENT SESSION 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BadBookStoreOrders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 ON SERVER 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ADD EVENT 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sqlserver.sql_statement_completed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ACTION(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sqlserver.sql_text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WHERE (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like_i_sql_unicode_string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([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sqlserver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].[</a:t>
            </a:r>
            <a:r>
              <a:rPr lang="en-US" sz="3000" dirty="0" err="1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sql_text</a:t>
            </a: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], N'%FROM%ORDERS%'))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)</a:t>
            </a:r>
          </a:p>
          <a:p>
            <a:pPr lvl="0">
              <a:defRPr/>
            </a:pPr>
            <a:r>
              <a:rPr lang="en-US" sz="3000" dirty="0">
                <a:solidFill>
                  <a:schemeClr val="bg1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WITH (TRACK_CAUSALITY=ON);</a:t>
            </a:r>
          </a:p>
        </p:txBody>
      </p:sp>
    </p:spTree>
    <p:extLst>
      <p:ext uri="{BB962C8B-B14F-4D97-AF65-F5344CB8AC3E}">
        <p14:creationId xmlns:p14="http://schemas.microsoft.com/office/powerpoint/2010/main" val="25732739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F436-DB8E-445A-A9BA-526B370C5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46628" y="1783959"/>
            <a:ext cx="4645250" cy="288911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700" dirty="0">
                <a:latin typeface="Aptos Black "/>
              </a:rPr>
              <a:t>Tip #4 – What we can do to improve our EF queries</a:t>
            </a:r>
          </a:p>
        </p:txBody>
      </p:sp>
      <p:sp>
        <p:nvSpPr>
          <p:cNvPr id="4100" name="Freeform: Shape 70">
            <a:extLst>
              <a:ext uri="{FF2B5EF4-FFF2-40B4-BE49-F238E27FC236}">
                <a16:creationId xmlns:a16="http://schemas.microsoft.com/office/drawing/2014/main" id="{1DB7C82F-AB7E-4F0C-B829-FA1B9C4151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6172782" cy="6858000"/>
          </a:xfrm>
          <a:custGeom>
            <a:avLst/>
            <a:gdLst>
              <a:gd name="connsiteX0" fmla="*/ 6172782 w 6172782"/>
              <a:gd name="connsiteY0" fmla="*/ 0 h 6858000"/>
              <a:gd name="connsiteX1" fmla="*/ 69075 w 6172782"/>
              <a:gd name="connsiteY1" fmla="*/ 0 h 6858000"/>
              <a:gd name="connsiteX2" fmla="*/ 35131 w 6172782"/>
              <a:gd name="connsiteY2" fmla="*/ 267128 h 6858000"/>
              <a:gd name="connsiteX3" fmla="*/ 0 w 6172782"/>
              <a:gd name="connsiteY3" fmla="*/ 962845 h 6858000"/>
              <a:gd name="connsiteX4" fmla="*/ 3276103 w 6172782"/>
              <a:gd name="connsiteY4" fmla="*/ 6782205 h 6858000"/>
              <a:gd name="connsiteX5" fmla="*/ 3407923 w 6172782"/>
              <a:gd name="connsiteY5" fmla="*/ 6858000 h 6858000"/>
              <a:gd name="connsiteX6" fmla="*/ 6172782 w 617278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72782" h="6858000">
                <a:moveTo>
                  <a:pt x="617278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617278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098" name="Picture 2" descr="See the source image">
            <a:extLst>
              <a:ext uri="{FF2B5EF4-FFF2-40B4-BE49-F238E27FC236}">
                <a16:creationId xmlns:a16="http://schemas.microsoft.com/office/drawing/2014/main" id="{84885B2C-0670-4F1C-A398-3F3F79C57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6024134" cy="685799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0888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C7BA3-C1A1-4BEF-8ED2-DBBBF4A75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String interpolation in raw SQL methods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B923A0-9F77-44FB-8870-34788AFD06BB}"/>
              </a:ext>
            </a:extLst>
          </p:cNvPr>
          <p:cNvSpPr/>
          <p:nvPr/>
        </p:nvSpPr>
        <p:spPr>
          <a:xfrm>
            <a:off x="456664" y="1775171"/>
            <a:ext cx="5917689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city = </a:t>
            </a:r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"Redmond"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;</a:t>
            </a:r>
          </a:p>
          <a:p>
            <a:endParaRPr lang="en-US" sz="2000" dirty="0">
              <a:solidFill>
                <a:srgbClr val="000000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using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(</a:t>
            </a:r>
            <a:r>
              <a:rPr lang="en-US" sz="2000" dirty="0" err="1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context = </a:t>
            </a:r>
            <a:r>
              <a:rPr lang="en-US" sz="2000" dirty="0" err="1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CreateContext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())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</a:t>
            </a:r>
            <a:r>
              <a:rPr lang="en-US" sz="2000" dirty="0" err="1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context.Customers.FromSql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$@“</a:t>
            </a:r>
          </a:p>
          <a:p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	SELECT *</a:t>
            </a:r>
          </a:p>
          <a:p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	FROM Customers</a:t>
            </a:r>
          </a:p>
          <a:p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	WHERE City = {city}"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);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}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A6CFF0-1C05-467A-A97D-A860F4DDD642}"/>
              </a:ext>
            </a:extLst>
          </p:cNvPr>
          <p:cNvSpPr/>
          <p:nvPr/>
        </p:nvSpPr>
        <p:spPr>
          <a:xfrm>
            <a:off x="549684" y="5263045"/>
            <a:ext cx="3071675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*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FROM</a:t>
            </a:r>
            <a:r>
              <a:rPr lang="en-US" sz="24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Customers</a:t>
            </a:r>
          </a:p>
          <a:p>
            <a:r>
              <a:rPr lang="en-US" sz="2400" dirty="0">
                <a:solidFill>
                  <a:srgbClr val="0000FF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WHERE</a:t>
            </a:r>
            <a:r>
              <a:rPr lang="en-US" sz="2400" dirty="0">
                <a:solidFill>
                  <a:srgbClr val="000000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City = @p0</a:t>
            </a:r>
            <a:endParaRPr lang="en-US" sz="2400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7F6E67-4B2B-432A-9A87-1D59242FC71F}"/>
              </a:ext>
            </a:extLst>
          </p:cNvPr>
          <p:cNvSpPr/>
          <p:nvPr/>
        </p:nvSpPr>
        <p:spPr>
          <a:xfrm>
            <a:off x="6096000" y="3329090"/>
            <a:ext cx="5917689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 err="1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city = </a:t>
            </a:r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"Redmond"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;</a:t>
            </a:r>
          </a:p>
          <a:p>
            <a:endParaRPr lang="en-US" sz="2000" dirty="0">
              <a:solidFill>
                <a:srgbClr val="000000"/>
              </a:solidFill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using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(</a:t>
            </a:r>
            <a:r>
              <a:rPr lang="en-US" sz="2000" dirty="0" err="1">
                <a:solidFill>
                  <a:srgbClr val="0000FF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var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context = </a:t>
            </a:r>
            <a:r>
              <a:rPr lang="en-US" sz="2000" dirty="0" err="1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CreateContext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())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{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</a:t>
            </a:r>
            <a:r>
              <a:rPr lang="en-US" sz="2000" dirty="0" err="1">
                <a:solidFill>
                  <a:srgbClr val="000000"/>
                </a:solidFill>
                <a:highlight>
                  <a:srgbClr val="FFFF00"/>
                </a:highlight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FormattableString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query =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</a:t>
            </a:r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$@“SELECT *</a:t>
            </a:r>
          </a:p>
          <a:p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FROM Customers</a:t>
            </a:r>
          </a:p>
          <a:p>
            <a:r>
              <a:rPr lang="en-US" sz="2000" dirty="0">
                <a:solidFill>
                  <a:srgbClr val="A31515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WHERE City = {city}"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;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    </a:t>
            </a:r>
            <a:r>
              <a:rPr lang="en-US" sz="2000" dirty="0" err="1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context.Customers.FromSql</a:t>
            </a:r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(query);</a:t>
            </a:r>
          </a:p>
          <a:p>
            <a:r>
              <a:rPr lang="en-US" sz="2000" dirty="0">
                <a:solidFill>
                  <a:srgbClr val="000000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}</a:t>
            </a:r>
            <a:endParaRPr lang="en-US" sz="2000" dirty="0"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0878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30C24-364A-4C19-8D8F-ECADAF01C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Aptos Black "/>
              </a:rPr>
              <a:t>Explicitly Compiled Queries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4D6217C5-15F1-442A-BABA-90137D06BA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65" y="4384517"/>
            <a:ext cx="11539392" cy="70788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public async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Task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List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&gt;&gt;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GetAllAlbumsAsync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 =&gt;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await 	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_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queryGetAllAlbums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this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).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ToListAsync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();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454F729-B239-4149-9093-E9942646B3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1594" y="2400427"/>
            <a:ext cx="11810533" cy="1015663"/>
          </a:xfrm>
          <a:prstGeom prst="rect">
            <a:avLst/>
          </a:prstGeom>
          <a:solidFill>
            <a:schemeClr val="tx2">
              <a:lumMod val="9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private static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readonly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71591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Func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ChinookContext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AsyncEnumerable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&lt;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Album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&gt;&gt; 	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_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queryGetAllAlbums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660E7A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=</a:t>
            </a:r>
            <a:r>
              <a:rPr lang="en-US" altLang="en-US" sz="2000" dirty="0">
                <a:solidFill>
                  <a:srgbClr val="262626"/>
                </a:solidFill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		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EF.CompileAsyncQuery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((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ChinookContext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db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 =&gt;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db.Album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262626"/>
                </a:solidFill>
                <a:effectLst/>
                <a:latin typeface="Hack" panose="020B0609030202020204" pitchFamily="49" charset="0"/>
                <a:ea typeface="Hack" panose="020B0609030202020204" pitchFamily="49" charset="0"/>
                <a:cs typeface="Hack" panose="020B0609030202020204" pitchFamily="49" charset="0"/>
              </a:rPr>
              <a:t>);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Hack" panose="020B0609030202020204" pitchFamily="49" charset="0"/>
              <a:ea typeface="Hack" panose="020B0609030202020204" pitchFamily="49" charset="0"/>
              <a:cs typeface="Hack" panose="020B0609030202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747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www.loevy.com/content/uploads/2016/10/555handshake.jpg">
            <a:extLst>
              <a:ext uri="{FF2B5EF4-FFF2-40B4-BE49-F238E27FC236}">
                <a16:creationId xmlns:a16="http://schemas.microsoft.com/office/drawing/2014/main" id="{778A9EC0-6E74-4BC7-98BF-10EC8CC9117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3" name="Freeform 5">
            <a:extLst>
              <a:ext uri="{FF2B5EF4-FFF2-40B4-BE49-F238E27FC236}">
                <a16:creationId xmlns:a16="http://schemas.microsoft.com/office/drawing/2014/main" id="{87CC2527-562A-4F69-B487-4371E5B243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7488621" y="2277613"/>
            <a:ext cx="4703379" cy="4580387"/>
          </a:xfrm>
          <a:custGeom>
            <a:avLst/>
            <a:gdLst>
              <a:gd name="T0" fmla="*/ 1333 w 1333"/>
              <a:gd name="T1" fmla="*/ 1031 h 1298"/>
              <a:gd name="T2" fmla="*/ 1333 w 1333"/>
              <a:gd name="T3" fmla="*/ 380 h 1298"/>
              <a:gd name="T4" fmla="*/ 706 w 1333"/>
              <a:gd name="T5" fmla="*/ 0 h 1298"/>
              <a:gd name="T6" fmla="*/ 0 w 1333"/>
              <a:gd name="T7" fmla="*/ 706 h 1298"/>
              <a:gd name="T8" fmla="*/ 323 w 1333"/>
              <a:gd name="T9" fmla="*/ 1298 h 1298"/>
              <a:gd name="T10" fmla="*/ 1090 w 1333"/>
              <a:gd name="T11" fmla="*/ 1298 h 1298"/>
              <a:gd name="T12" fmla="*/ 1333 w 1333"/>
              <a:gd name="T13" fmla="*/ 1031 h 129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1333" h="1298">
                <a:moveTo>
                  <a:pt x="1333" y="1031"/>
                </a:moveTo>
                <a:cubicBezTo>
                  <a:pt x="1333" y="380"/>
                  <a:pt x="1333" y="380"/>
                  <a:pt x="1333" y="380"/>
                </a:cubicBezTo>
                <a:cubicBezTo>
                  <a:pt x="1215" y="154"/>
                  <a:pt x="979" y="0"/>
                  <a:pt x="706" y="0"/>
                </a:cubicBezTo>
                <a:cubicBezTo>
                  <a:pt x="317" y="0"/>
                  <a:pt x="0" y="316"/>
                  <a:pt x="0" y="706"/>
                </a:cubicBezTo>
                <a:cubicBezTo>
                  <a:pt x="0" y="954"/>
                  <a:pt x="129" y="1172"/>
                  <a:pt x="323" y="1298"/>
                </a:cubicBezTo>
                <a:cubicBezTo>
                  <a:pt x="1090" y="1298"/>
                  <a:pt x="1090" y="1298"/>
                  <a:pt x="1090" y="1298"/>
                </a:cubicBezTo>
                <a:cubicBezTo>
                  <a:pt x="1193" y="1232"/>
                  <a:pt x="1276" y="1140"/>
                  <a:pt x="1333" y="1031"/>
                </a:cubicBezTo>
                <a:close/>
              </a:path>
            </a:pathLst>
          </a:custGeom>
          <a:solidFill>
            <a:schemeClr val="bg1">
              <a:alpha val="70000"/>
            </a:schemeClr>
          </a:solidFill>
          <a:ln w="50800" cap="sq" cmpd="dbl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/>
          <a:p>
            <a:pPr algn="ctr">
              <a:spcAft>
                <a:spcPts val="1000"/>
              </a:spcAft>
              <a:buClr>
                <a:schemeClr val="tx1"/>
              </a:buClr>
              <a:buSzPct val="100000"/>
              <a:buFont typeface="Arial"/>
              <a:buNone/>
            </a:pPr>
            <a:endParaRPr lang="en-US" sz="1600" cap="al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F0401D-A38B-4EF5-9B5A-E34C0E1C3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2021" y="3231931"/>
            <a:ext cx="3852041" cy="18340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dirty="0">
                <a:latin typeface="Aptos Black "/>
              </a:rPr>
              <a:t>Be nice to your DBA!</a:t>
            </a:r>
          </a:p>
        </p:txBody>
      </p:sp>
      <p:cxnSp>
        <p:nvCxnSpPr>
          <p:cNvPr id="3084" name="Straight Connector 72">
            <a:extLst>
              <a:ext uri="{FF2B5EF4-FFF2-40B4-BE49-F238E27FC236}">
                <a16:creationId xmlns:a16="http://schemas.microsoft.com/office/drawing/2014/main" id="{BCDAEC91-5BCE-4B55-9CC0-43EF94CB73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480331" y="5123793"/>
            <a:ext cx="935420" cy="0"/>
          </a:xfrm>
          <a:prstGeom prst="line">
            <a:avLst/>
          </a:prstGeom>
          <a:ln w="25400" cap="sq">
            <a:solidFill>
              <a:schemeClr val="tx1">
                <a:lumMod val="85000"/>
                <a:lumOff val="15000"/>
              </a:schemeClr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7439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99F69-5332-494D-93B6-B7F4C1545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40080"/>
            <a:ext cx="2752354" cy="2709275"/>
          </a:xfrm>
          <a:prstGeom prst="ellipse">
            <a:avLst/>
          </a:prstGeom>
          <a:solidFill>
            <a:srgbClr val="FFFFFF"/>
          </a:solidFill>
          <a:ln w="174625" cmpd="thinThick">
            <a:solidFill>
              <a:srgbClr val="FFFFFF"/>
            </a:solidFill>
          </a:ln>
        </p:spPr>
        <p:txBody>
          <a:bodyPr anchor="ctr">
            <a:normAutofit/>
          </a:bodyPr>
          <a:lstStyle/>
          <a:p>
            <a:pPr algn="ctr"/>
            <a:r>
              <a:rPr lang="en-US" sz="4800" dirty="0">
                <a:solidFill>
                  <a:srgbClr val="262626"/>
                </a:solidFill>
                <a:latin typeface="Aptos Black "/>
              </a:rPr>
              <a:t>Wrap Up!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9A7B5A6-7B59-2121-F91C-2049D158AB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7232" y="517648"/>
            <a:ext cx="5663414" cy="56634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96AB14-98AC-912D-DDF6-EE1198DFD06E}"/>
              </a:ext>
            </a:extLst>
          </p:cNvPr>
          <p:cNvSpPr txBox="1"/>
          <p:nvPr/>
        </p:nvSpPr>
        <p:spPr>
          <a:xfrm>
            <a:off x="90440" y="3806087"/>
            <a:ext cx="660398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dirty="0">
                <a:effectLst/>
                <a:latin typeface="Aptos Display" panose="020B0004020202020204" pitchFamily="34" charset="0"/>
              </a:rPr>
              <a:t>github.com/cwoodruff/</a:t>
            </a:r>
            <a:r>
              <a:rPr lang="en-US" sz="2800" b="0" i="0" dirty="0" err="1">
                <a:effectLst/>
                <a:latin typeface="Aptos Display" panose="020B0004020202020204" pitchFamily="34" charset="0"/>
              </a:rPr>
              <a:t>EFCorePerfDemos</a:t>
            </a:r>
            <a:endParaRPr lang="en-US" sz="2800" dirty="0">
              <a:latin typeface="Aptos Display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620951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Nadpis 5">
            <a:extLst>
              <a:ext uri="{FF2B5EF4-FFF2-40B4-BE49-F238E27FC236}">
                <a16:creationId xmlns:a16="http://schemas.microsoft.com/office/drawing/2014/main" id="{4E8F06FA-7779-CB41-6751-CE4E92F594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9556" y="2395649"/>
            <a:ext cx="5136444" cy="1944084"/>
          </a:xfrm>
        </p:spPr>
        <p:txBody>
          <a:bodyPr/>
          <a:lstStyle/>
          <a:p>
            <a:r>
              <a:rPr lang="en-US" dirty="0">
                <a:latin typeface="Aptos Black "/>
              </a:rPr>
              <a:t>Thank You!!!</a:t>
            </a:r>
          </a:p>
        </p:txBody>
      </p:sp>
      <p:sp>
        <p:nvSpPr>
          <p:cNvPr id="7" name="Zástupný text 6">
            <a:extLst>
              <a:ext uri="{FF2B5EF4-FFF2-40B4-BE49-F238E27FC236}">
                <a16:creationId xmlns:a16="http://schemas.microsoft.com/office/drawing/2014/main" id="{333AEB48-0CCB-17D7-6903-BEA439CC58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@woodruff.dev</a:t>
            </a:r>
          </a:p>
        </p:txBody>
      </p:sp>
      <p:sp>
        <p:nvSpPr>
          <p:cNvPr id="8" name="Zástupný text 7">
            <a:extLst>
              <a:ext uri="{FF2B5EF4-FFF2-40B4-BE49-F238E27FC236}">
                <a16:creationId xmlns:a16="http://schemas.microsoft.com/office/drawing/2014/main" id="{9B5986BB-30E1-91CE-9B7C-CD0ACD8C2F3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 err="1">
                <a:latin typeface="+mn-lt"/>
              </a:rPr>
              <a:t>chris.woodruff</a:t>
            </a:r>
            <a:endParaRPr lang="en-US" dirty="0">
              <a:latin typeface="+mn-lt"/>
            </a:endParaRPr>
          </a:p>
        </p:txBody>
      </p:sp>
      <p:sp>
        <p:nvSpPr>
          <p:cNvPr id="9" name="Zástupný text 8">
            <a:extLst>
              <a:ext uri="{FF2B5EF4-FFF2-40B4-BE49-F238E27FC236}">
                <a16:creationId xmlns:a16="http://schemas.microsoft.com/office/drawing/2014/main" id="{FF06DB95-F63A-B8A8-5BF0-3EBA2DE9F6B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>
                <a:latin typeface="+mn-lt"/>
              </a:rPr>
              <a:t>cwoodruff</a:t>
            </a:r>
          </a:p>
        </p:txBody>
      </p:sp>
    </p:spTree>
    <p:extLst>
      <p:ext uri="{BB962C8B-B14F-4D97-AF65-F5344CB8AC3E}">
        <p14:creationId xmlns:p14="http://schemas.microsoft.com/office/powerpoint/2010/main" val="18703918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Detective">
      <a:majorFont>
        <a:latin typeface="SF Comic Script"/>
        <a:ea typeface=""/>
        <a:cs typeface=""/>
      </a:majorFont>
      <a:minorFont>
        <a:latin typeface="Market_Dec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Vlastní 1">
      <a:dk1>
        <a:srgbClr val="2C2D2B"/>
      </a:dk1>
      <a:lt1>
        <a:sysClr val="window" lastClr="FFFFFF"/>
      </a:lt1>
      <a:dk2>
        <a:srgbClr val="46AFE4"/>
      </a:dk2>
      <a:lt2>
        <a:srgbClr val="2C2D2B"/>
      </a:lt2>
      <a:accent1>
        <a:srgbClr val="FFFFFF"/>
      </a:accent1>
      <a:accent2>
        <a:srgbClr val="46AFE4"/>
      </a:accent2>
      <a:accent3>
        <a:srgbClr val="2C2D2B"/>
      </a:accent3>
      <a:accent4>
        <a:srgbClr val="FFFFFF"/>
      </a:accent4>
      <a:accent5>
        <a:srgbClr val="46AFE4"/>
      </a:accent5>
      <a:accent6>
        <a:srgbClr val="2C2D2B"/>
      </a:accent6>
      <a:hlink>
        <a:srgbClr val="FFFFFF"/>
      </a:hlink>
      <a:folHlink>
        <a:srgbClr val="46AFE4"/>
      </a:folHlink>
    </a:clrScheme>
    <a:fontScheme name="Vlastní 2">
      <a:majorFont>
        <a:latin typeface="Aptos Black 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t">
        <a:normAutofit/>
      </a:bodyPr>
      <a:lstStyle>
        <a:defPPr algn="l">
          <a:spcBef>
            <a:spcPts val="1200"/>
          </a:spcBef>
          <a:defRPr sz="2400" dirty="0">
            <a:solidFill>
              <a:schemeClr val="bg1"/>
            </a:solidFill>
            <a:latin typeface="Prometo Light" panose="020B040403020306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flat-gears-powerpoint-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at-gears-powerpoint-template" id="{4697EE00-FD4C-BE4F-96A7-916A456D27B0}" vid="{90E68275-EAA0-4345-8121-D5B730D93C6D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889</Words>
  <Application>Microsoft Office PowerPoint</Application>
  <PresentationFormat>Widescreen</PresentationFormat>
  <Paragraphs>107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24</vt:i4>
      </vt:variant>
    </vt:vector>
  </HeadingPairs>
  <TitlesOfParts>
    <vt:vector size="41" baseType="lpstr">
      <vt:lpstr>Aptos Black </vt:lpstr>
      <vt:lpstr>Aptos Display</vt:lpstr>
      <vt:lpstr>Aptos Light</vt:lpstr>
      <vt:lpstr>Aptos Light (Body)</vt:lpstr>
      <vt:lpstr>Arial</vt:lpstr>
      <vt:lpstr>Calibri</vt:lpstr>
      <vt:lpstr>Cascadia Code</vt:lpstr>
      <vt:lpstr>Hack</vt:lpstr>
      <vt:lpstr>Market_Deco</vt:lpstr>
      <vt:lpstr>Prometo Light</vt:lpstr>
      <vt:lpstr>Prometo Medium</vt:lpstr>
      <vt:lpstr>Prometo XBold</vt:lpstr>
      <vt:lpstr>Raleway Light</vt:lpstr>
      <vt:lpstr>SF Comic Script</vt:lpstr>
      <vt:lpstr>Office Theme</vt:lpstr>
      <vt:lpstr>Motiv Office</vt:lpstr>
      <vt:lpstr>flat-gears-powerpoint-template</vt:lpstr>
      <vt:lpstr>Behind the LINQ</vt:lpstr>
      <vt:lpstr>Story</vt:lpstr>
      <vt:lpstr>PowerPoint Presentation</vt:lpstr>
      <vt:lpstr>I am not a dba!</vt:lpstr>
      <vt:lpstr>We are not going to attack DBAs here! </vt:lpstr>
      <vt:lpstr>What we want to solve?</vt:lpstr>
      <vt:lpstr>Goals for this talk!</vt:lpstr>
      <vt:lpstr>The Mystery of Slow EF Queries</vt:lpstr>
      <vt:lpstr>Common Performance Pitfalls</vt:lpstr>
      <vt:lpstr>Tip #2 – understand query Plans</vt:lpstr>
      <vt:lpstr>PowerPoint Presentation</vt:lpstr>
      <vt:lpstr>PowerPoint Presentation</vt:lpstr>
      <vt:lpstr>Tip #1 – Have better databases</vt:lpstr>
      <vt:lpstr>Demo</vt:lpstr>
      <vt:lpstr>Tip #3 – Query Tags and Extended Events</vt:lpstr>
      <vt:lpstr>Query Tags</vt:lpstr>
      <vt:lpstr>Query Tags</vt:lpstr>
      <vt:lpstr>Extended Events</vt:lpstr>
      <vt:lpstr>Tip #4 – What we can do to improve our EF queries</vt:lpstr>
      <vt:lpstr>String interpolation in raw SQL methods</vt:lpstr>
      <vt:lpstr>Explicitly Compiled Queries</vt:lpstr>
      <vt:lpstr>Be nice to your DBA!</vt:lpstr>
      <vt:lpstr>Wrap Up!</vt:lpstr>
      <vt:lpstr>Thank You!!!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Entity Framework Debugging using SQL Server</dc:title>
  <dc:creator>Chris Woodruff</dc:creator>
  <cp:lastModifiedBy>Chris Woodruff</cp:lastModifiedBy>
  <cp:revision>18</cp:revision>
  <dcterms:created xsi:type="dcterms:W3CDTF">2019-06-21T07:38:25Z</dcterms:created>
  <dcterms:modified xsi:type="dcterms:W3CDTF">2025-11-14T08:50:12Z</dcterms:modified>
</cp:coreProperties>
</file>